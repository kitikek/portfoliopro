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handoutMasterIdLst>
    <p:handoutMasterId r:id="rId18"/>
  </p:handoutMasterIdLst>
  <p:sldIdLst>
    <p:sldId id="256" r:id="rId2"/>
    <p:sldId id="257" r:id="rId3"/>
    <p:sldId id="258" r:id="rId4"/>
    <p:sldId id="261" r:id="rId5"/>
    <p:sldId id="260" r:id="rId6"/>
    <p:sldId id="262" r:id="rId7"/>
    <p:sldId id="268" r:id="rId8"/>
    <p:sldId id="264" r:id="rId9"/>
    <p:sldId id="274" r:id="rId10"/>
    <p:sldId id="275" r:id="rId11"/>
    <p:sldId id="276" r:id="rId12"/>
    <p:sldId id="266" r:id="rId13"/>
    <p:sldId id="273" r:id="rId14"/>
    <p:sldId id="272" r:id="rId15"/>
    <p:sldId id="270" r:id="rId16"/>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AEEFB"/>
    <a:srgbClr val="F1F0D3"/>
    <a:srgbClr val="FFFF66"/>
    <a:srgbClr val="FFFF99"/>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Средний стиль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Светлый стиль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Нет стиля, нет сетки">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248" autoAdjust="0"/>
  </p:normalViewPr>
  <p:slideViewPr>
    <p:cSldViewPr snapToGrid="0">
      <p:cViewPr>
        <p:scale>
          <a:sx n="75" d="100"/>
          <a:sy n="75" d="100"/>
        </p:scale>
        <p:origin x="9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818FA4DA-5CCE-75F4-CAE2-C6513A0D544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21E4A688-EEDB-9ECF-EFE3-DA33A31B9D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0C1234-34FC-4DE6-B8B6-B28AE435FC7A}" type="datetimeFigureOut">
              <a:rPr lang="ru-RU" smtClean="0"/>
              <a:t>22.03.2026</a:t>
            </a:fld>
            <a:endParaRPr lang="ru-RU"/>
          </a:p>
        </p:txBody>
      </p:sp>
      <p:sp>
        <p:nvSpPr>
          <p:cNvPr id="4" name="Нижний колонтитул 3">
            <a:extLst>
              <a:ext uri="{FF2B5EF4-FFF2-40B4-BE49-F238E27FC236}">
                <a16:creationId xmlns:a16="http://schemas.microsoft.com/office/drawing/2014/main" id="{4085CF7F-D2A0-6238-990A-F425697AE3A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0F6409C7-7DC0-7B3E-BAED-171D6A0EDA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FA6959F-C2A7-45AB-BFFD-D09E4F9AEEE6}" type="slidenum">
              <a:rPr lang="ru-RU" smtClean="0"/>
              <a:t>‹#›</a:t>
            </a:fld>
            <a:endParaRPr lang="ru-RU"/>
          </a:p>
        </p:txBody>
      </p:sp>
    </p:spTree>
    <p:extLst>
      <p:ext uri="{BB962C8B-B14F-4D97-AF65-F5344CB8AC3E}">
        <p14:creationId xmlns:p14="http://schemas.microsoft.com/office/powerpoint/2010/main" val="11590650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56C14D-C11B-46FE-A12E-8051BB84F02A}" type="datetimeFigureOut">
              <a:rPr lang="ru-RU" smtClean="0"/>
              <a:t>22.03.2026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30B9DB-EFAD-4E73-B14E-3AB3196B9729}" type="slidenum">
              <a:rPr lang="ru-RU" smtClean="0"/>
              <a:t>‹#›</a:t>
            </a:fld>
            <a:endParaRPr lang="ru-RU"/>
          </a:p>
        </p:txBody>
      </p:sp>
    </p:spTree>
    <p:extLst>
      <p:ext uri="{BB962C8B-B14F-4D97-AF65-F5344CB8AC3E}">
        <p14:creationId xmlns:p14="http://schemas.microsoft.com/office/powerpoint/2010/main" val="2872133369"/>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hh.ru/"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b="0" i="0" kern="1200" dirty="0">
                <a:solidFill>
                  <a:schemeClr val="tx1"/>
                </a:solidFill>
                <a:effectLst/>
                <a:latin typeface="+mn-lt"/>
                <a:ea typeface="+mn-ea"/>
                <a:cs typeface="+mn-cs"/>
              </a:rPr>
              <a:t>Good morning</a:t>
            </a:r>
            <a:r>
              <a:rPr lang="ru-RU"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afternoon</a:t>
            </a:r>
            <a:r>
              <a:rPr lang="ru-RU" sz="1200" b="0" i="1"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evening</a:t>
            </a:r>
            <a:r>
              <a:rPr lang="ru-RU" sz="1200" b="0" i="1"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everyone. My name is Ekaterina Melnik, and today I am going to present my project: Development of a Web Service for Creating and Managing an Interactive Digital Portfolio and Resume.</a:t>
            </a:r>
            <a:endParaRPr lang="ru-RU" dirty="0"/>
          </a:p>
        </p:txBody>
      </p:sp>
    </p:spTree>
    <p:extLst>
      <p:ext uri="{BB962C8B-B14F-4D97-AF65-F5344CB8AC3E}">
        <p14:creationId xmlns:p14="http://schemas.microsoft.com/office/powerpoint/2010/main" val="1094965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txBody>
          <a:bodyPr/>
          <a:lstStyle/>
          <a:p>
            <a:endParaRPr lang="ru-RU"/>
          </a:p>
        </p:txBody>
      </p:sp>
      <p:sp>
        <p:nvSpPr>
          <p:cNvPr id="3" name="Заметки 2"/>
          <p:cNvSpPr>
            <a:spLocks noGrp="1"/>
          </p:cNvSpPr>
          <p:nvPr>
            <p:ph type="body" idx="1"/>
          </p:nvPr>
        </p:nvSpPr>
        <p:spPr/>
        <p:txBody>
          <a:bodyPr/>
          <a:lstStyle/>
          <a:p>
            <a:r>
              <a:rPr lang="en-US" sz="1200" b="0" i="0" kern="1200" dirty="0">
                <a:solidFill>
                  <a:schemeClr val="tx1"/>
                </a:solidFill>
                <a:effectLst/>
                <a:latin typeface="+mn-lt"/>
                <a:ea typeface="+mn-ea"/>
                <a:cs typeface="+mn-cs"/>
              </a:rPr>
              <a:t>Today's job market, especially in tech and creative fields, is highly competitive. Professionals showcase their work across many platforms—GitHub, Behance, LinkedIn</a:t>
            </a:r>
            <a:r>
              <a:rPr lang="ru-RU"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and through PDF resumes. This creates a </a:t>
            </a:r>
            <a:r>
              <a:rPr lang="en-US" sz="1200" b="1" i="0" kern="1200" dirty="0">
                <a:solidFill>
                  <a:schemeClr val="tx1"/>
                </a:solidFill>
                <a:effectLst/>
                <a:latin typeface="+mn-lt"/>
                <a:ea typeface="+mn-ea"/>
                <a:cs typeface="+mn-cs"/>
              </a:rPr>
              <a:t>fragmented digital identity</a:t>
            </a:r>
            <a:r>
              <a:rPr lang="en-US" sz="1200" b="0" i="0" kern="1200" dirty="0">
                <a:solidFill>
                  <a:schemeClr val="tx1"/>
                </a:solidFill>
                <a:effectLst/>
                <a:latin typeface="+mn-lt"/>
                <a:ea typeface="+mn-ea"/>
                <a:cs typeface="+mn-cs"/>
              </a:rPr>
              <a:t>. Employers struggle to get a complete, compelling picture of a candidate's skills and experience.</a:t>
            </a:r>
          </a:p>
          <a:p>
            <a:endParaRPr lang="ru-RU" dirty="0"/>
          </a:p>
        </p:txBody>
      </p:sp>
    </p:spTree>
    <p:extLst>
      <p:ext uri="{BB962C8B-B14F-4D97-AF65-F5344CB8AC3E}">
        <p14:creationId xmlns:p14="http://schemas.microsoft.com/office/powerpoint/2010/main" val="20011914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txBody>
          <a:bodyPr/>
          <a:lstStyle/>
          <a:p>
            <a:endParaRPr lang="ru-RU"/>
          </a:p>
        </p:txBody>
      </p:sp>
      <p:sp>
        <p:nvSpPr>
          <p:cNvPr id="3" name="Заметки 2"/>
          <p:cNvSpPr>
            <a:spLocks noGrp="1"/>
          </p:cNvSpPr>
          <p:nvPr>
            <p:ph type="body" idx="1"/>
          </p:nvPr>
        </p:nvSpPr>
        <p:spPr/>
        <p:txBody>
          <a:bodyPr/>
          <a:lstStyle/>
          <a:p>
            <a:r>
              <a:rPr lang="en-US" sz="1200" b="0" i="0" kern="1200" dirty="0">
                <a:solidFill>
                  <a:schemeClr val="tx1"/>
                </a:solidFill>
                <a:effectLst/>
                <a:latin typeface="+mn-lt"/>
                <a:ea typeface="+mn-ea"/>
                <a:cs typeface="+mn-cs"/>
              </a:rPr>
              <a:t>Existing tools address the problem only partially. Each category has fundamental limitations that prevent it from being a complete solution.</a:t>
            </a:r>
            <a:endParaRPr lang="ru-RU" dirty="0"/>
          </a:p>
        </p:txBody>
      </p:sp>
    </p:spTree>
    <p:extLst>
      <p:ext uri="{BB962C8B-B14F-4D97-AF65-F5344CB8AC3E}">
        <p14:creationId xmlns:p14="http://schemas.microsoft.com/office/powerpoint/2010/main" val="1020385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b="0" i="0" kern="1200" dirty="0">
                <a:solidFill>
                  <a:schemeClr val="tx1"/>
                </a:solidFill>
                <a:effectLst/>
                <a:latin typeface="+mn-lt"/>
                <a:ea typeface="+mn-ea"/>
                <a:cs typeface="+mn-cs"/>
              </a:rPr>
              <a:t>Here is a detailed comparison of specific platforms</a:t>
            </a:r>
            <a:r>
              <a:rPr lang="ru-RU"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that confirms the fragmentation. As we can see, the market is filled with </a:t>
            </a:r>
            <a:r>
              <a:rPr lang="en-US" sz="1200" b="1" i="0" kern="1200" dirty="0">
                <a:solidFill>
                  <a:schemeClr val="tx1"/>
                </a:solidFill>
                <a:effectLst/>
                <a:latin typeface="+mn-lt"/>
                <a:ea typeface="+mn-ea"/>
                <a:cs typeface="+mn-cs"/>
              </a:rPr>
              <a:t>good, but specialized tools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Some</a:t>
            </a:r>
            <a:r>
              <a:rPr lang="en-US" sz="1200" b="0" i="0" kern="1200" dirty="0">
                <a:solidFill>
                  <a:schemeClr val="tx1"/>
                </a:solidFill>
                <a:effectLst/>
                <a:latin typeface="+mn-lt"/>
                <a:ea typeface="+mn-ea"/>
                <a:cs typeface="+mn-cs"/>
              </a:rPr>
              <a:t> are great for simple links but lack depth. </a:t>
            </a:r>
            <a:r>
              <a:rPr lang="en-US" sz="1200" b="1" i="0" kern="1200" dirty="0">
                <a:solidFill>
                  <a:schemeClr val="tx1"/>
                </a:solidFill>
                <a:effectLst/>
                <a:latin typeface="+mn-lt"/>
                <a:ea typeface="+mn-ea"/>
                <a:cs typeface="+mn-cs"/>
              </a:rPr>
              <a:t>Others</a:t>
            </a:r>
            <a:r>
              <a:rPr lang="en-US" sz="1200" b="0" i="0" kern="1200" dirty="0">
                <a:solidFill>
                  <a:schemeClr val="tx1"/>
                </a:solidFill>
                <a:effectLst/>
                <a:latin typeface="+mn-lt"/>
                <a:ea typeface="+mn-ea"/>
                <a:cs typeface="+mn-cs"/>
              </a:rPr>
              <a:t> create beautiful resumes</a:t>
            </a:r>
            <a:r>
              <a:rPr lang="ru-RU"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but offer poor project visualization. </a:t>
            </a:r>
            <a:r>
              <a:rPr lang="en-US" sz="1200" b="1" i="0" kern="1200" dirty="0">
                <a:solidFill>
                  <a:schemeClr val="tx1"/>
                </a:solidFill>
                <a:effectLst/>
                <a:latin typeface="+mn-lt"/>
                <a:ea typeface="+mn-ea"/>
                <a:cs typeface="+mn-cs"/>
              </a:rPr>
              <a:t>Design platforms</a:t>
            </a:r>
            <a:r>
              <a:rPr lang="en-US" sz="1200" b="0" i="0" kern="1200" dirty="0">
                <a:solidFill>
                  <a:schemeClr val="tx1"/>
                </a:solidFill>
                <a:effectLst/>
                <a:latin typeface="+mn-lt"/>
                <a:ea typeface="+mn-ea"/>
                <a:cs typeface="+mn-cs"/>
              </a:rPr>
              <a:t> are fantastic for creatives, but not universal. And </a:t>
            </a:r>
            <a:r>
              <a:rPr lang="en-US" sz="1200" b="1" i="0" kern="1200" dirty="0">
                <a:solidFill>
                  <a:schemeClr val="tx1"/>
                </a:solidFill>
                <a:effectLst/>
                <a:latin typeface="+mn-lt"/>
                <a:ea typeface="+mn-ea"/>
                <a:cs typeface="+mn-cs"/>
              </a:rPr>
              <a:t>no current solution</a:t>
            </a:r>
            <a:r>
              <a:rPr lang="en-US" sz="1200" b="0" i="0" kern="1200" dirty="0">
                <a:solidFill>
                  <a:schemeClr val="tx1"/>
                </a:solidFill>
                <a:effectLst/>
                <a:latin typeface="+mn-lt"/>
                <a:ea typeface="+mn-ea"/>
                <a:cs typeface="+mn-cs"/>
              </a:rPr>
              <a:t> connects your self-presentation with </a:t>
            </a:r>
            <a:r>
              <a:rPr lang="en-US" sz="1200" b="1" i="0" kern="1200" dirty="0">
                <a:solidFill>
                  <a:schemeClr val="tx1"/>
                </a:solidFill>
                <a:effectLst/>
                <a:latin typeface="+mn-lt"/>
                <a:ea typeface="+mn-ea"/>
                <a:cs typeface="+mn-cs"/>
              </a:rPr>
              <a:t>actionable, data-driven insights</a:t>
            </a:r>
            <a:r>
              <a:rPr lang="en-US" sz="1200" b="0" i="0" kern="1200" dirty="0">
                <a:solidFill>
                  <a:schemeClr val="tx1"/>
                </a:solidFill>
                <a:effectLst/>
                <a:latin typeface="+mn-lt"/>
                <a:ea typeface="+mn-ea"/>
                <a:cs typeface="+mn-cs"/>
              </a:rPr>
              <a:t> from the job market.</a:t>
            </a:r>
          </a:p>
          <a:p>
            <a:endParaRPr lang="ru-RU" dirty="0"/>
          </a:p>
        </p:txBody>
      </p:sp>
    </p:spTree>
    <p:extLst>
      <p:ext uri="{BB962C8B-B14F-4D97-AF65-F5344CB8AC3E}">
        <p14:creationId xmlns:p14="http://schemas.microsoft.com/office/powerpoint/2010/main" val="38162364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b="0" i="0" kern="1200" dirty="0">
                <a:solidFill>
                  <a:schemeClr val="tx1"/>
                </a:solidFill>
                <a:effectLst/>
                <a:latin typeface="+mn-lt"/>
                <a:ea typeface="+mn-ea"/>
                <a:cs typeface="+mn-cs"/>
              </a:rPr>
              <a:t>My solution is to integrate best-in-class features into a single, cohesive platform, eliminating the need for users to fragment their professional identity across multiple tools.</a:t>
            </a:r>
          </a:p>
          <a:p>
            <a:r>
              <a:rPr lang="en-US" sz="1200" b="1" i="0" kern="1200" dirty="0">
                <a:solidFill>
                  <a:schemeClr val="tx1"/>
                </a:solidFill>
                <a:effectLst/>
                <a:latin typeface="+mn-lt"/>
                <a:ea typeface="+mn-ea"/>
                <a:cs typeface="+mn-cs"/>
              </a:rPr>
              <a:t>Crucially, it adds a layer of intelligence:</a:t>
            </a:r>
            <a:r>
              <a:rPr lang="en-US" sz="1200" b="0" i="0" kern="1200" dirty="0">
                <a:solidFill>
                  <a:schemeClr val="tx1"/>
                </a:solidFill>
                <a:effectLst/>
                <a:latin typeface="+mn-lt"/>
                <a:ea typeface="+mn-ea"/>
                <a:cs typeface="+mn-cs"/>
              </a:rPr>
              <a:t> a </a:t>
            </a:r>
            <a:r>
              <a:rPr lang="en-US" sz="1200" b="1" i="0" kern="1200" dirty="0">
                <a:solidFill>
                  <a:schemeClr val="tx1"/>
                </a:solidFill>
                <a:effectLst/>
                <a:latin typeface="+mn-lt"/>
                <a:ea typeface="+mn-ea"/>
                <a:cs typeface="+mn-cs"/>
              </a:rPr>
              <a:t>data-driven recommendation system</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This system analyzes user skills, offering advice to close skill gaps and increase career opportunities.</a:t>
            </a:r>
          </a:p>
          <a:p>
            <a:r>
              <a:rPr lang="en-US" sz="1200" b="0" i="0" kern="1200" dirty="0">
                <a:solidFill>
                  <a:schemeClr val="tx1"/>
                </a:solidFill>
                <a:effectLst/>
                <a:latin typeface="+mn-lt"/>
                <a:ea typeface="+mn-ea"/>
                <a:cs typeface="+mn-cs"/>
              </a:rPr>
              <a:t>Thus, the final product is not just a presentation tool, but a functional builder that helps users not just show their skills but also understand their market value and identify clear paths for professional development.</a:t>
            </a:r>
          </a:p>
        </p:txBody>
      </p:sp>
    </p:spTree>
    <p:extLst>
      <p:ext uri="{BB962C8B-B14F-4D97-AF65-F5344CB8AC3E}">
        <p14:creationId xmlns:p14="http://schemas.microsoft.com/office/powerpoint/2010/main" val="14701056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en-US" sz="1200" b="0" i="0" kern="1200" dirty="0">
                <a:solidFill>
                  <a:schemeClr val="tx1"/>
                </a:solidFill>
                <a:effectLst/>
                <a:latin typeface="+mn-lt"/>
                <a:ea typeface="+mn-ea"/>
                <a:cs typeface="+mn-cs"/>
              </a:rPr>
              <a:t>Regretfully, there are some limitations and</a:t>
            </a:r>
            <a:r>
              <a:rPr lang="ru-RU"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here let's outline them.</a:t>
            </a:r>
          </a:p>
          <a:p>
            <a:r>
              <a:rPr lang="en-US" sz="1200" b="1" i="0" kern="1200" dirty="0">
                <a:solidFill>
                  <a:schemeClr val="tx1"/>
                </a:solidFill>
                <a:effectLst/>
                <a:latin typeface="+mn-lt"/>
                <a:ea typeface="+mn-ea"/>
                <a:cs typeface="+mn-cs"/>
              </a:rPr>
              <a:t>First</a:t>
            </a:r>
            <a:r>
              <a:rPr lang="en-US" sz="1200" b="0" i="0" kern="1200" dirty="0">
                <a:solidFill>
                  <a:schemeClr val="tx1"/>
                </a:solidFill>
                <a:effectLst/>
                <a:latin typeface="+mn-lt"/>
                <a:ea typeface="+mn-ea"/>
                <a:cs typeface="+mn-cs"/>
              </a:rPr>
              <a:t>, the service is designed for the digital sector. It's not the best fit for another </a:t>
            </a:r>
            <a:r>
              <a:rPr lang="en-US" dirty="0"/>
              <a:t>fields like law or accounting</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Second</a:t>
            </a:r>
            <a:r>
              <a:rPr lang="en-US" sz="1200" b="0" i="0" kern="1200" dirty="0">
                <a:solidFill>
                  <a:schemeClr val="tx1"/>
                </a:solidFill>
                <a:effectLst/>
                <a:latin typeface="+mn-lt"/>
                <a:ea typeface="+mn-ea"/>
                <a:cs typeface="+mn-cs"/>
              </a:rPr>
              <a:t>, a key feature—the smart skill analysis—relies on external job market data. This makes it dependent on the availability of those APIs.</a:t>
            </a:r>
          </a:p>
          <a:p>
            <a:r>
              <a:rPr lang="en-US" sz="1200" b="1" i="0" kern="1200" dirty="0">
                <a:solidFill>
                  <a:schemeClr val="tx1"/>
                </a:solidFill>
                <a:effectLst/>
                <a:latin typeface="+mn-lt"/>
                <a:ea typeface="+mn-ea"/>
                <a:cs typeface="+mn-cs"/>
              </a:rPr>
              <a:t>Third</a:t>
            </a:r>
            <a:r>
              <a:rPr lang="en-US" sz="1200" b="0" i="0" kern="1200" dirty="0">
                <a:solidFill>
                  <a:schemeClr val="tx1"/>
                </a:solidFill>
                <a:effectLst/>
                <a:latin typeface="+mn-lt"/>
                <a:ea typeface="+mn-ea"/>
                <a:cs typeface="+mn-cs"/>
              </a:rPr>
              <a:t>, it's important to note that the platform displays user-provided information (projects or skill). So the system cannot independently verify the accuracy of this information.</a:t>
            </a:r>
            <a:endParaRPr lang="ru-RU" dirty="0"/>
          </a:p>
        </p:txBody>
      </p:sp>
    </p:spTree>
    <p:extLst>
      <p:ext uri="{BB962C8B-B14F-4D97-AF65-F5344CB8AC3E}">
        <p14:creationId xmlns:p14="http://schemas.microsoft.com/office/powerpoint/2010/main" val="2792166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E081B-EB74-F446-0453-F98915A0DACC}"/>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238173E9-A18C-A3C8-6FA6-808BC917B5F4}"/>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547B5CCA-28D3-730E-A4CD-007BE7C3167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This sequence illustrates the logical foundation of the research questions.</a:t>
            </a:r>
            <a:r>
              <a:rPr lang="ru-RU"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Each question directly informs a key stage in the development of portfolio service.</a:t>
            </a:r>
          </a:p>
        </p:txBody>
      </p:sp>
    </p:spTree>
    <p:extLst>
      <p:ext uri="{BB962C8B-B14F-4D97-AF65-F5344CB8AC3E}">
        <p14:creationId xmlns:p14="http://schemas.microsoft.com/office/powerpoint/2010/main" val="23425983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65259-9C48-9CEF-BF91-E1B1880D4B7A}"/>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D510263-9314-5F0E-A4BF-2CAE57AAA174}"/>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E2FAD711-CD40-FAFC-B94A-EE7AAFB885BD}"/>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Four research questions guide this study, covering visualization, design, architecture, and analytics.</a:t>
            </a:r>
          </a:p>
        </p:txBody>
      </p:sp>
    </p:spTree>
    <p:extLst>
      <p:ext uri="{BB962C8B-B14F-4D97-AF65-F5344CB8AC3E}">
        <p14:creationId xmlns:p14="http://schemas.microsoft.com/office/powerpoint/2010/main" val="2997218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0556F-8A3A-C51A-257B-4875B341B6C6}"/>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ADFBBD0-0DBC-CA41-AFB5-D5F9930FDF3A}"/>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3D03179-F606-0E90-10CE-C65F3CB534E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Research on data visualization shows that visual elements like colors and icons make skill charts more memorable. But memorability doesn’t always mean accuracy—overly decorative visuals can distort the actual information. At the same time, structured self‑presentation increases perceived credibility. So the key is balance: skill visualizations need to be engaging but still clear and accurate.</a:t>
            </a:r>
          </a:p>
        </p:txBody>
      </p:sp>
    </p:spTree>
    <p:extLst>
      <p:ext uri="{BB962C8B-B14F-4D97-AF65-F5344CB8AC3E}">
        <p14:creationId xmlns:p14="http://schemas.microsoft.com/office/powerpoint/2010/main" val="4097940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50C0B-40C3-E597-3F12-E275B7085DB4}"/>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F0ACB4AF-02FB-C3D4-DCC3-366E8A35940A}"/>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12459F1B-B83E-5AC1-AA91-F56DC6C0032B}"/>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 portfolio platform serves two audiences. For creators, usability is critical: simple, well‑structured forms reduce errors and make the process efficient. For employers, the presentation must provide enough depth to allow proper evaluation. Oversimplification can actually hurt assessment quality. And trust matters too—both sides need to feel the platform is reliable. So the design must be intuitive for creators while giving employers the structured information they need.</a:t>
            </a:r>
          </a:p>
        </p:txBody>
      </p:sp>
    </p:spTree>
    <p:extLst>
      <p:ext uri="{BB962C8B-B14F-4D97-AF65-F5344CB8AC3E}">
        <p14:creationId xmlns:p14="http://schemas.microsoft.com/office/powerpoint/2010/main" val="3431180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323D3-96A6-FDCE-7DF3-544F6F4D2074}"/>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5DB22EEF-8780-6FF8-9B0B-F2A648955405}"/>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D5CB30DC-BAC3-9C5A-931B-DEFF520B9526}"/>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Building this system combines two technical approaches. Agile development gives us flexibility and allows iterative delivery. But because the platform handles user data and external APIs, it also needs a modular, scalable architecture that can grow and stay stable. Agile methods support the development process, while a robust backend ensures long‑term reliability—both are essential.</a:t>
            </a:r>
          </a:p>
        </p:txBody>
      </p:sp>
    </p:spTree>
    <p:extLst>
      <p:ext uri="{BB962C8B-B14F-4D97-AF65-F5344CB8AC3E}">
        <p14:creationId xmlns:p14="http://schemas.microsoft.com/office/powerpoint/2010/main" val="1358959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4487C-F9AA-0554-B3F8-B70BC4E4FD81}"/>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E6C32C7D-68AB-21FA-799A-6D313E0E0F8F}"/>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349386FD-264C-3BD8-1682-0F48614000A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Job vacancy data reveals patterns in labor market demand—what skills are most needed. Skills themselves act as economic signals. Descriptive analytics simply summarizes the current market. But predictive analytics goes further: it estimates future trends and identifies skill gaps. The goal is to apply predictive logic, comparing the user’s skills with evolving market demand to give personalized, forward‑looking recommendations.</a:t>
            </a:r>
          </a:p>
        </p:txBody>
      </p:sp>
    </p:spTree>
    <p:extLst>
      <p:ext uri="{BB962C8B-B14F-4D97-AF65-F5344CB8AC3E}">
        <p14:creationId xmlns:p14="http://schemas.microsoft.com/office/powerpoint/2010/main" val="4082416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47320-A040-A04A-E823-DD77147AC553}"/>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16EA025E-A39F-7D71-AC5C-4F49AB04A46D}"/>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3B8E35CC-7A04-AD36-D25E-EBC1887AA503}"/>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methodology follows four phases: domain analysis, design, implementation, and evaluation. </a:t>
            </a:r>
            <a:r>
              <a:rPr lang="en-US" sz="1200" b="0" i="1" kern="1200" dirty="0">
                <a:solidFill>
                  <a:schemeClr val="tx1"/>
                </a:solidFill>
                <a:effectLst/>
                <a:latin typeface="+mn-lt"/>
                <a:ea typeface="+mn-ea"/>
                <a:cs typeface="+mn-cs"/>
              </a:rPr>
              <a:t>The implementation uses React, Node.js, MySQL, and cloud deployment with </a:t>
            </a:r>
            <a:r>
              <a:rPr lang="en-US" sz="1200" b="0" i="1" u="none" strike="noStrike" kern="1200" dirty="0">
                <a:solidFill>
                  <a:schemeClr val="tx1"/>
                </a:solidFill>
                <a:effectLst/>
                <a:latin typeface="+mn-lt"/>
                <a:ea typeface="+mn-ea"/>
                <a:cs typeface="+mn-cs"/>
                <a:hlinkClick r:id="rId3"/>
              </a:rPr>
              <a:t>HH.ru</a:t>
            </a:r>
            <a:r>
              <a:rPr lang="ru-RU" sz="1200" b="0" i="1" u="none" strike="noStrike" kern="1200" dirty="0">
                <a:solidFill>
                  <a:schemeClr val="tx1"/>
                </a:solidFill>
                <a:effectLst/>
                <a:latin typeface="+mn-lt"/>
                <a:ea typeface="+mn-ea"/>
                <a:cs typeface="+mn-cs"/>
              </a:rPr>
              <a:t> </a:t>
            </a:r>
            <a:r>
              <a:rPr lang="en-US" sz="1200" b="0" i="1" u="none" strike="noStrike" kern="1200" dirty="0">
                <a:solidFill>
                  <a:schemeClr val="tx1"/>
                </a:solidFill>
                <a:effectLst/>
                <a:latin typeface="+mn-lt"/>
                <a:ea typeface="+mn-ea"/>
                <a:cs typeface="+mn-cs"/>
              </a:rPr>
              <a:t>API</a:t>
            </a:r>
            <a:r>
              <a:rPr lang="en-US" sz="1200" b="0" i="1" kern="1200" dirty="0">
                <a:solidFill>
                  <a:schemeClr val="tx1"/>
                </a:solidFill>
                <a:effectLst/>
                <a:latin typeface="+mn-lt"/>
                <a:ea typeface="+mn-ea"/>
                <a:cs typeface="+mn-cs"/>
              </a:rPr>
              <a:t> integration. The final phase tests functionality and analytics performance.</a:t>
            </a:r>
          </a:p>
        </p:txBody>
      </p:sp>
    </p:spTree>
    <p:extLst>
      <p:ext uri="{BB962C8B-B14F-4D97-AF65-F5344CB8AC3E}">
        <p14:creationId xmlns:p14="http://schemas.microsoft.com/office/powerpoint/2010/main" val="18239175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C69A2-A252-6273-E6CF-845E6AD7CBD8}"/>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6A53D03E-E319-C89F-1AC8-1F45E1C6CA0A}"/>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77640905-609E-780F-5263-030AA4D3640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Two results are anticipated: a functional MVP and an analytics module that provides data‑driven career recommendations.</a:t>
            </a:r>
          </a:p>
        </p:txBody>
      </p:sp>
    </p:spTree>
    <p:extLst>
      <p:ext uri="{BB962C8B-B14F-4D97-AF65-F5344CB8AC3E}">
        <p14:creationId xmlns:p14="http://schemas.microsoft.com/office/powerpoint/2010/main" val="3212494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4A452-2174-4131-2634-BED49D76F480}"/>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8B3B7F86-FE53-6BE1-7F03-9D7FDA4AD83E}"/>
              </a:ext>
            </a:extLst>
          </p:cNvPr>
          <p:cNvSpPr>
            <a:spLocks noGrp="1" noRot="1" noChangeAspect="1"/>
          </p:cNvSpPr>
          <p:nvPr>
            <p:ph type="sldImg"/>
          </p:nvPr>
        </p:nvSpPr>
        <p:spPr/>
      </p:sp>
      <p:sp>
        <p:nvSpPr>
          <p:cNvPr id="3" name="Заметки 2">
            <a:extLst>
              <a:ext uri="{FF2B5EF4-FFF2-40B4-BE49-F238E27FC236}">
                <a16:creationId xmlns:a16="http://schemas.microsoft.com/office/drawing/2014/main" id="{45E27E2E-C319-985D-8111-3EADA015E00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The research is grounded in established literature from visualization, usability, software engineering, and labor economics. And this concludes the presentation.</a:t>
            </a:r>
          </a:p>
        </p:txBody>
      </p:sp>
    </p:spTree>
    <p:extLst>
      <p:ext uri="{BB962C8B-B14F-4D97-AF65-F5344CB8AC3E}">
        <p14:creationId xmlns:p14="http://schemas.microsoft.com/office/powerpoint/2010/main" val="3608576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412BE2-AB43-19F0-68EF-C9E0FC211F54}"/>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3009888F-65A9-F872-6487-1C57AB79C6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2B7054FF-91A3-005C-7193-B39B14D6D490}"/>
              </a:ext>
            </a:extLst>
          </p:cNvPr>
          <p:cNvSpPr>
            <a:spLocks noGrp="1"/>
          </p:cNvSpPr>
          <p:nvPr>
            <p:ph type="dt" sz="half" idx="10"/>
          </p:nvPr>
        </p:nvSpPr>
        <p:spPr/>
        <p:txBody>
          <a:bodyPr/>
          <a:lstStyle/>
          <a:p>
            <a:fld id="{F5CEF4A4-67D0-43F5-914D-D35D33B9C319}" type="datetime1">
              <a:rPr lang="ru-RU" smtClean="0"/>
              <a:t>22.03.2026</a:t>
            </a:fld>
            <a:endParaRPr lang="ru-RU"/>
          </a:p>
        </p:txBody>
      </p:sp>
      <p:sp>
        <p:nvSpPr>
          <p:cNvPr id="5" name="Нижний колонтитул 4">
            <a:extLst>
              <a:ext uri="{FF2B5EF4-FFF2-40B4-BE49-F238E27FC236}">
                <a16:creationId xmlns:a16="http://schemas.microsoft.com/office/drawing/2014/main" id="{1A762293-B28A-E933-E90C-D542B07067B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B56DE41-63C8-BD95-69FC-E6A6C06A2CA7}"/>
              </a:ext>
            </a:extLst>
          </p:cNvPr>
          <p:cNvSpPr>
            <a:spLocks noGrp="1"/>
          </p:cNvSpPr>
          <p:nvPr>
            <p:ph type="sldNum" sz="quarter" idx="12"/>
          </p:nvPr>
        </p:nvSpPr>
        <p:spPr/>
        <p:txBody>
          <a:bodyPr/>
          <a:lstStyle/>
          <a:p>
            <a:fld id="{AB872730-9A74-4497-B7D6-02B393744B30}" type="slidenum">
              <a:rPr lang="ru-RU" smtClean="0"/>
              <a:t>‹#›</a:t>
            </a:fld>
            <a:endParaRPr lang="ru-RU"/>
          </a:p>
        </p:txBody>
      </p:sp>
    </p:spTree>
    <p:extLst>
      <p:ext uri="{BB962C8B-B14F-4D97-AF65-F5344CB8AC3E}">
        <p14:creationId xmlns:p14="http://schemas.microsoft.com/office/powerpoint/2010/main" val="678078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0B03D4-A67C-9869-D104-16BBF8B67600}"/>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8A7732AB-5883-3BEF-AB90-B2BB750CB662}"/>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393EDE9-DDF2-C120-9482-F21C6B805104}"/>
              </a:ext>
            </a:extLst>
          </p:cNvPr>
          <p:cNvSpPr>
            <a:spLocks noGrp="1"/>
          </p:cNvSpPr>
          <p:nvPr>
            <p:ph type="dt" sz="half" idx="10"/>
          </p:nvPr>
        </p:nvSpPr>
        <p:spPr/>
        <p:txBody>
          <a:bodyPr/>
          <a:lstStyle/>
          <a:p>
            <a:fld id="{93DB9DAD-DAFD-47D3-B912-699EA0E6EB28}" type="datetime1">
              <a:rPr lang="ru-RU" smtClean="0"/>
              <a:t>22.03.2026</a:t>
            </a:fld>
            <a:endParaRPr lang="ru-RU"/>
          </a:p>
        </p:txBody>
      </p:sp>
      <p:sp>
        <p:nvSpPr>
          <p:cNvPr id="5" name="Нижний колонтитул 4">
            <a:extLst>
              <a:ext uri="{FF2B5EF4-FFF2-40B4-BE49-F238E27FC236}">
                <a16:creationId xmlns:a16="http://schemas.microsoft.com/office/drawing/2014/main" id="{798A6FB6-E7F0-4592-15E0-0C20602288DF}"/>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C0AD742-5CA8-A0CA-9A34-A922F241F1B7}"/>
              </a:ext>
            </a:extLst>
          </p:cNvPr>
          <p:cNvSpPr>
            <a:spLocks noGrp="1"/>
          </p:cNvSpPr>
          <p:nvPr>
            <p:ph type="sldNum" sz="quarter" idx="12"/>
          </p:nvPr>
        </p:nvSpPr>
        <p:spPr/>
        <p:txBody>
          <a:bodyPr/>
          <a:lstStyle/>
          <a:p>
            <a:fld id="{AB872730-9A74-4497-B7D6-02B393744B30}" type="slidenum">
              <a:rPr lang="ru-RU" smtClean="0"/>
              <a:t>‹#›</a:t>
            </a:fld>
            <a:endParaRPr lang="ru-RU"/>
          </a:p>
        </p:txBody>
      </p:sp>
    </p:spTree>
    <p:extLst>
      <p:ext uri="{BB962C8B-B14F-4D97-AF65-F5344CB8AC3E}">
        <p14:creationId xmlns:p14="http://schemas.microsoft.com/office/powerpoint/2010/main" val="895324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3F77DA2-B195-5313-2AC0-65F0F63E046A}"/>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C21A711-4D90-CFBB-2EF6-BB69729953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538DEA65-019E-EC44-EA7D-42D0014A59EB}"/>
              </a:ext>
            </a:extLst>
          </p:cNvPr>
          <p:cNvSpPr>
            <a:spLocks noGrp="1"/>
          </p:cNvSpPr>
          <p:nvPr>
            <p:ph type="dt" sz="half" idx="10"/>
          </p:nvPr>
        </p:nvSpPr>
        <p:spPr/>
        <p:txBody>
          <a:bodyPr/>
          <a:lstStyle/>
          <a:p>
            <a:fld id="{BA588675-761A-40FB-8632-DD809D0ED6C8}" type="datetime1">
              <a:rPr lang="ru-RU" smtClean="0"/>
              <a:t>22.03.2026</a:t>
            </a:fld>
            <a:endParaRPr lang="ru-RU"/>
          </a:p>
        </p:txBody>
      </p:sp>
      <p:sp>
        <p:nvSpPr>
          <p:cNvPr id="5" name="Нижний колонтитул 4">
            <a:extLst>
              <a:ext uri="{FF2B5EF4-FFF2-40B4-BE49-F238E27FC236}">
                <a16:creationId xmlns:a16="http://schemas.microsoft.com/office/drawing/2014/main" id="{8DF9F964-2EDF-CB7F-FC3B-0CA40F7F935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526AA55-3C23-5574-E8E7-48CF26DAC2A9}"/>
              </a:ext>
            </a:extLst>
          </p:cNvPr>
          <p:cNvSpPr>
            <a:spLocks noGrp="1"/>
          </p:cNvSpPr>
          <p:nvPr>
            <p:ph type="sldNum" sz="quarter" idx="12"/>
          </p:nvPr>
        </p:nvSpPr>
        <p:spPr/>
        <p:txBody>
          <a:bodyPr/>
          <a:lstStyle/>
          <a:p>
            <a:fld id="{AB872730-9A74-4497-B7D6-02B393744B30}" type="slidenum">
              <a:rPr lang="ru-RU" smtClean="0"/>
              <a:t>‹#›</a:t>
            </a:fld>
            <a:endParaRPr lang="ru-RU"/>
          </a:p>
        </p:txBody>
      </p:sp>
    </p:spTree>
    <p:extLst>
      <p:ext uri="{BB962C8B-B14F-4D97-AF65-F5344CB8AC3E}">
        <p14:creationId xmlns:p14="http://schemas.microsoft.com/office/powerpoint/2010/main" val="2849491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CFCFA20-495E-E235-7A60-A35835C7015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CCFB4E70-1BED-935B-6C64-596F8E415E51}"/>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87C7F763-AD67-A992-A9BE-F2641035000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65AC3FB5-12DF-EAB1-21C3-CDDA432F41F3}"/>
              </a:ext>
            </a:extLst>
          </p:cNvPr>
          <p:cNvSpPr>
            <a:spLocks noGrp="1"/>
          </p:cNvSpPr>
          <p:nvPr>
            <p:ph type="dt" sz="half" idx="10"/>
          </p:nvPr>
        </p:nvSpPr>
        <p:spPr/>
        <p:txBody>
          <a:bodyPr/>
          <a:lstStyle/>
          <a:p>
            <a:fld id="{7A6DCF9A-3AFD-4F3F-825A-21AE879348E0}" type="datetime1">
              <a:rPr lang="ru-RU" smtClean="0"/>
              <a:t>22.03.2026</a:t>
            </a:fld>
            <a:endParaRPr lang="ru-RU"/>
          </a:p>
        </p:txBody>
      </p:sp>
      <p:sp>
        <p:nvSpPr>
          <p:cNvPr id="6" name="Нижний колонтитул 5">
            <a:extLst>
              <a:ext uri="{FF2B5EF4-FFF2-40B4-BE49-F238E27FC236}">
                <a16:creationId xmlns:a16="http://schemas.microsoft.com/office/drawing/2014/main" id="{3ECEDA3A-8F99-5C8F-8894-E94948CD7BB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A605B7F9-D012-7FD1-2F6E-4FE5EC3B1AF4}"/>
              </a:ext>
            </a:extLst>
          </p:cNvPr>
          <p:cNvSpPr>
            <a:spLocks noGrp="1"/>
          </p:cNvSpPr>
          <p:nvPr>
            <p:ph type="sldNum" sz="quarter" idx="12"/>
          </p:nvPr>
        </p:nvSpPr>
        <p:spPr/>
        <p:txBody>
          <a:bodyPr/>
          <a:lstStyle/>
          <a:p>
            <a:fld id="{AB872730-9A74-4497-B7D6-02B393744B30}" type="slidenum">
              <a:rPr lang="ru-RU" smtClean="0"/>
              <a:t>‹#›</a:t>
            </a:fld>
            <a:endParaRPr lang="ru-RU"/>
          </a:p>
        </p:txBody>
      </p:sp>
    </p:spTree>
    <p:extLst>
      <p:ext uri="{BB962C8B-B14F-4D97-AF65-F5344CB8AC3E}">
        <p14:creationId xmlns:p14="http://schemas.microsoft.com/office/powerpoint/2010/main" val="4232787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31F0DAF-1C47-E9B4-C8BB-913C6A483D1B}"/>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1FD968C0-77AF-0ACE-3BA8-95E24CC294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28900272-40EC-6769-AA18-B5634F8B2465}"/>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CC41058F-2026-1318-B973-29E72F7DE3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38503922-79C2-4867-ECE8-85C7A4CE0D83}"/>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4AA2B306-C096-6BAA-8E31-296F6E1014EF}"/>
              </a:ext>
            </a:extLst>
          </p:cNvPr>
          <p:cNvSpPr>
            <a:spLocks noGrp="1"/>
          </p:cNvSpPr>
          <p:nvPr>
            <p:ph type="dt" sz="half" idx="10"/>
          </p:nvPr>
        </p:nvSpPr>
        <p:spPr/>
        <p:txBody>
          <a:bodyPr/>
          <a:lstStyle/>
          <a:p>
            <a:fld id="{3F7F4605-A604-42E4-AE58-FDD5C45420D5}" type="datetime1">
              <a:rPr lang="ru-RU" smtClean="0"/>
              <a:t>22.03.2026</a:t>
            </a:fld>
            <a:endParaRPr lang="ru-RU"/>
          </a:p>
        </p:txBody>
      </p:sp>
      <p:sp>
        <p:nvSpPr>
          <p:cNvPr id="8" name="Нижний колонтитул 7">
            <a:extLst>
              <a:ext uri="{FF2B5EF4-FFF2-40B4-BE49-F238E27FC236}">
                <a16:creationId xmlns:a16="http://schemas.microsoft.com/office/drawing/2014/main" id="{FFF475E4-2E86-FB05-8026-12752931B0AF}"/>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12FDFF78-3D99-9411-199A-C6A6A0C0FC32}"/>
              </a:ext>
            </a:extLst>
          </p:cNvPr>
          <p:cNvSpPr>
            <a:spLocks noGrp="1"/>
          </p:cNvSpPr>
          <p:nvPr>
            <p:ph type="sldNum" sz="quarter" idx="12"/>
          </p:nvPr>
        </p:nvSpPr>
        <p:spPr/>
        <p:txBody>
          <a:bodyPr/>
          <a:lstStyle/>
          <a:p>
            <a:fld id="{AB872730-9A74-4497-B7D6-02B393744B30}" type="slidenum">
              <a:rPr lang="ru-RU" smtClean="0"/>
              <a:t>‹#›</a:t>
            </a:fld>
            <a:endParaRPr lang="ru-RU"/>
          </a:p>
        </p:txBody>
      </p:sp>
    </p:spTree>
    <p:extLst>
      <p:ext uri="{BB962C8B-B14F-4D97-AF65-F5344CB8AC3E}">
        <p14:creationId xmlns:p14="http://schemas.microsoft.com/office/powerpoint/2010/main" val="3736730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CD21B33-D2E5-C673-C602-D7ADA2C7A11E}"/>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3E02B017-09BE-BE44-7A97-F6E3B9D40E5A}"/>
              </a:ext>
            </a:extLst>
          </p:cNvPr>
          <p:cNvSpPr>
            <a:spLocks noGrp="1"/>
          </p:cNvSpPr>
          <p:nvPr>
            <p:ph type="dt" sz="half" idx="10"/>
          </p:nvPr>
        </p:nvSpPr>
        <p:spPr/>
        <p:txBody>
          <a:bodyPr/>
          <a:lstStyle/>
          <a:p>
            <a:fld id="{74A49013-063E-4561-9B60-863E7B2A6061}" type="datetime1">
              <a:rPr lang="ru-RU" smtClean="0"/>
              <a:t>22.03.2026</a:t>
            </a:fld>
            <a:endParaRPr lang="ru-RU"/>
          </a:p>
        </p:txBody>
      </p:sp>
      <p:sp>
        <p:nvSpPr>
          <p:cNvPr id="4" name="Нижний колонтитул 3">
            <a:extLst>
              <a:ext uri="{FF2B5EF4-FFF2-40B4-BE49-F238E27FC236}">
                <a16:creationId xmlns:a16="http://schemas.microsoft.com/office/drawing/2014/main" id="{A6586B1B-29F6-4613-0E8A-9DC369A75640}"/>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BE39571-0507-7156-8FC1-178A70AF6029}"/>
              </a:ext>
            </a:extLst>
          </p:cNvPr>
          <p:cNvSpPr>
            <a:spLocks noGrp="1"/>
          </p:cNvSpPr>
          <p:nvPr>
            <p:ph type="sldNum" sz="quarter" idx="12"/>
          </p:nvPr>
        </p:nvSpPr>
        <p:spPr/>
        <p:txBody>
          <a:bodyPr/>
          <a:lstStyle/>
          <a:p>
            <a:fld id="{AB872730-9A74-4497-B7D6-02B393744B30}" type="slidenum">
              <a:rPr lang="ru-RU" smtClean="0"/>
              <a:t>‹#›</a:t>
            </a:fld>
            <a:endParaRPr lang="ru-RU"/>
          </a:p>
        </p:txBody>
      </p:sp>
    </p:spTree>
    <p:extLst>
      <p:ext uri="{BB962C8B-B14F-4D97-AF65-F5344CB8AC3E}">
        <p14:creationId xmlns:p14="http://schemas.microsoft.com/office/powerpoint/2010/main" val="1875075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8AB26BD2-43A9-F518-2959-183BD004C7F5}"/>
              </a:ext>
            </a:extLst>
          </p:cNvPr>
          <p:cNvSpPr>
            <a:spLocks noGrp="1"/>
          </p:cNvSpPr>
          <p:nvPr>
            <p:ph type="dt" sz="half" idx="10"/>
          </p:nvPr>
        </p:nvSpPr>
        <p:spPr/>
        <p:txBody>
          <a:bodyPr/>
          <a:lstStyle/>
          <a:p>
            <a:fld id="{6C5A7653-0D91-4E07-B7E8-F8EBAD76FF8C}" type="datetime1">
              <a:rPr lang="ru-RU" smtClean="0"/>
              <a:t>22.03.2026</a:t>
            </a:fld>
            <a:endParaRPr lang="ru-RU"/>
          </a:p>
        </p:txBody>
      </p:sp>
      <p:sp>
        <p:nvSpPr>
          <p:cNvPr id="3" name="Нижний колонтитул 2">
            <a:extLst>
              <a:ext uri="{FF2B5EF4-FFF2-40B4-BE49-F238E27FC236}">
                <a16:creationId xmlns:a16="http://schemas.microsoft.com/office/drawing/2014/main" id="{AF77F3DF-12A9-93FA-99FC-5AF86DBD0ED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0A5AECC2-B5BE-0458-8748-69408E8B287C}"/>
              </a:ext>
            </a:extLst>
          </p:cNvPr>
          <p:cNvSpPr>
            <a:spLocks noGrp="1"/>
          </p:cNvSpPr>
          <p:nvPr>
            <p:ph type="sldNum" sz="quarter" idx="12"/>
          </p:nvPr>
        </p:nvSpPr>
        <p:spPr/>
        <p:txBody>
          <a:bodyPr/>
          <a:lstStyle/>
          <a:p>
            <a:fld id="{AB872730-9A74-4497-B7D6-02B393744B30}" type="slidenum">
              <a:rPr lang="ru-RU" smtClean="0"/>
              <a:t>‹#›</a:t>
            </a:fld>
            <a:endParaRPr lang="ru-RU"/>
          </a:p>
        </p:txBody>
      </p:sp>
    </p:spTree>
    <p:extLst>
      <p:ext uri="{BB962C8B-B14F-4D97-AF65-F5344CB8AC3E}">
        <p14:creationId xmlns:p14="http://schemas.microsoft.com/office/powerpoint/2010/main" val="784964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216EA8-BBBD-2722-D367-2C8EDF191905}"/>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F03B319C-6367-8BD9-5196-A229D013CE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3ADD1414-9E6E-F901-7EDD-B574A5C11D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60253A9A-58BF-42BF-48C0-214C56C19A8B}"/>
              </a:ext>
            </a:extLst>
          </p:cNvPr>
          <p:cNvSpPr>
            <a:spLocks noGrp="1"/>
          </p:cNvSpPr>
          <p:nvPr>
            <p:ph type="dt" sz="half" idx="10"/>
          </p:nvPr>
        </p:nvSpPr>
        <p:spPr/>
        <p:txBody>
          <a:bodyPr/>
          <a:lstStyle/>
          <a:p>
            <a:fld id="{90186DEE-1A90-4711-A577-6AF9DDCDA639}" type="datetime1">
              <a:rPr lang="ru-RU" smtClean="0"/>
              <a:t>22.03.2026</a:t>
            </a:fld>
            <a:endParaRPr lang="ru-RU"/>
          </a:p>
        </p:txBody>
      </p:sp>
      <p:sp>
        <p:nvSpPr>
          <p:cNvPr id="6" name="Нижний колонтитул 5">
            <a:extLst>
              <a:ext uri="{FF2B5EF4-FFF2-40B4-BE49-F238E27FC236}">
                <a16:creationId xmlns:a16="http://schemas.microsoft.com/office/drawing/2014/main" id="{3C1471A6-8E2E-927B-0087-2F81333DE3EB}"/>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38D19C27-276B-76E8-0DAD-BB6709D55FB7}"/>
              </a:ext>
            </a:extLst>
          </p:cNvPr>
          <p:cNvSpPr>
            <a:spLocks noGrp="1"/>
          </p:cNvSpPr>
          <p:nvPr>
            <p:ph type="sldNum" sz="quarter" idx="12"/>
          </p:nvPr>
        </p:nvSpPr>
        <p:spPr/>
        <p:txBody>
          <a:bodyPr/>
          <a:lstStyle/>
          <a:p>
            <a:fld id="{AB872730-9A74-4497-B7D6-02B393744B30}" type="slidenum">
              <a:rPr lang="ru-RU" smtClean="0"/>
              <a:t>‹#›</a:t>
            </a:fld>
            <a:endParaRPr lang="ru-RU"/>
          </a:p>
        </p:txBody>
      </p:sp>
    </p:spTree>
    <p:extLst>
      <p:ext uri="{BB962C8B-B14F-4D97-AF65-F5344CB8AC3E}">
        <p14:creationId xmlns:p14="http://schemas.microsoft.com/office/powerpoint/2010/main" val="2329806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F7F3DA-C0FE-0DE2-A530-2141FE642324}"/>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FEAFD596-4B6B-508E-D2F4-A42BA80B15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F278E893-A3ED-DC1A-2C5C-3F2BFAE162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2AEF730-2730-F81D-E2A7-F7A4A733B69E}"/>
              </a:ext>
            </a:extLst>
          </p:cNvPr>
          <p:cNvSpPr>
            <a:spLocks noGrp="1"/>
          </p:cNvSpPr>
          <p:nvPr>
            <p:ph type="dt" sz="half" idx="10"/>
          </p:nvPr>
        </p:nvSpPr>
        <p:spPr/>
        <p:txBody>
          <a:bodyPr/>
          <a:lstStyle/>
          <a:p>
            <a:fld id="{8FCC46D6-4920-4F98-98F0-091596809393}" type="datetime1">
              <a:rPr lang="ru-RU" smtClean="0"/>
              <a:t>22.03.2026</a:t>
            </a:fld>
            <a:endParaRPr lang="ru-RU"/>
          </a:p>
        </p:txBody>
      </p:sp>
      <p:sp>
        <p:nvSpPr>
          <p:cNvPr id="6" name="Нижний колонтитул 5">
            <a:extLst>
              <a:ext uri="{FF2B5EF4-FFF2-40B4-BE49-F238E27FC236}">
                <a16:creationId xmlns:a16="http://schemas.microsoft.com/office/drawing/2014/main" id="{A325FD34-BF23-FA6F-DE26-FA6CEDBD99A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D2F53D46-2A2B-9609-3065-3547287F8442}"/>
              </a:ext>
            </a:extLst>
          </p:cNvPr>
          <p:cNvSpPr>
            <a:spLocks noGrp="1"/>
          </p:cNvSpPr>
          <p:nvPr>
            <p:ph type="sldNum" sz="quarter" idx="12"/>
          </p:nvPr>
        </p:nvSpPr>
        <p:spPr/>
        <p:txBody>
          <a:bodyPr/>
          <a:lstStyle/>
          <a:p>
            <a:fld id="{AB872730-9A74-4497-B7D6-02B393744B30}" type="slidenum">
              <a:rPr lang="ru-RU" smtClean="0"/>
              <a:t>‹#›</a:t>
            </a:fld>
            <a:endParaRPr lang="ru-RU"/>
          </a:p>
        </p:txBody>
      </p:sp>
    </p:spTree>
    <p:extLst>
      <p:ext uri="{BB962C8B-B14F-4D97-AF65-F5344CB8AC3E}">
        <p14:creationId xmlns:p14="http://schemas.microsoft.com/office/powerpoint/2010/main" val="3862681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EEF811-F1AC-CD9B-0300-5FCB3BEB2B1B}"/>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7DA6355E-58E0-909E-7DCB-1C1D0CA22005}"/>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6CCD1F1-BF53-92CB-A018-91F7A15698B2}"/>
              </a:ext>
            </a:extLst>
          </p:cNvPr>
          <p:cNvSpPr>
            <a:spLocks noGrp="1"/>
          </p:cNvSpPr>
          <p:nvPr>
            <p:ph type="dt" sz="half" idx="10"/>
          </p:nvPr>
        </p:nvSpPr>
        <p:spPr/>
        <p:txBody>
          <a:bodyPr/>
          <a:lstStyle/>
          <a:p>
            <a:fld id="{483E426F-6AA2-41F4-995E-9984078589DB}" type="datetime1">
              <a:rPr lang="ru-RU" smtClean="0"/>
              <a:t>22.03.2026</a:t>
            </a:fld>
            <a:endParaRPr lang="ru-RU"/>
          </a:p>
        </p:txBody>
      </p:sp>
      <p:sp>
        <p:nvSpPr>
          <p:cNvPr id="5" name="Нижний колонтитул 4">
            <a:extLst>
              <a:ext uri="{FF2B5EF4-FFF2-40B4-BE49-F238E27FC236}">
                <a16:creationId xmlns:a16="http://schemas.microsoft.com/office/drawing/2014/main" id="{A000F682-226B-012B-C9F3-34BCCF6EFF6E}"/>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ECEB198C-CE88-6A21-E315-4729C6882086}"/>
              </a:ext>
            </a:extLst>
          </p:cNvPr>
          <p:cNvSpPr>
            <a:spLocks noGrp="1"/>
          </p:cNvSpPr>
          <p:nvPr>
            <p:ph type="sldNum" sz="quarter" idx="12"/>
          </p:nvPr>
        </p:nvSpPr>
        <p:spPr/>
        <p:txBody>
          <a:bodyPr/>
          <a:lstStyle/>
          <a:p>
            <a:fld id="{AB872730-9A74-4497-B7D6-02B393744B30}" type="slidenum">
              <a:rPr lang="ru-RU" smtClean="0"/>
              <a:t>‹#›</a:t>
            </a:fld>
            <a:endParaRPr lang="ru-RU"/>
          </a:p>
        </p:txBody>
      </p:sp>
    </p:spTree>
    <p:extLst>
      <p:ext uri="{BB962C8B-B14F-4D97-AF65-F5344CB8AC3E}">
        <p14:creationId xmlns:p14="http://schemas.microsoft.com/office/powerpoint/2010/main" val="1187480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085B8E72-D5D5-C424-3E6D-263FD7F328B7}"/>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00151107-C8BF-7DAA-383D-4E94734A9D3A}"/>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89A0729-F85D-1B94-9882-88E72A74FFE0}"/>
              </a:ext>
            </a:extLst>
          </p:cNvPr>
          <p:cNvSpPr>
            <a:spLocks noGrp="1"/>
          </p:cNvSpPr>
          <p:nvPr>
            <p:ph type="dt" sz="half" idx="10"/>
          </p:nvPr>
        </p:nvSpPr>
        <p:spPr/>
        <p:txBody>
          <a:bodyPr/>
          <a:lstStyle/>
          <a:p>
            <a:fld id="{62617E83-5640-4F4A-91B4-206F9A06B2DD}" type="datetime1">
              <a:rPr lang="ru-RU" smtClean="0"/>
              <a:t>22.03.2026</a:t>
            </a:fld>
            <a:endParaRPr lang="ru-RU"/>
          </a:p>
        </p:txBody>
      </p:sp>
      <p:sp>
        <p:nvSpPr>
          <p:cNvPr id="5" name="Нижний колонтитул 4">
            <a:extLst>
              <a:ext uri="{FF2B5EF4-FFF2-40B4-BE49-F238E27FC236}">
                <a16:creationId xmlns:a16="http://schemas.microsoft.com/office/drawing/2014/main" id="{EA7A4FAC-543C-E7E5-6950-F9C02D2623B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EC2A84F-8AEA-FAB4-D102-A2D10F39FFB8}"/>
              </a:ext>
            </a:extLst>
          </p:cNvPr>
          <p:cNvSpPr>
            <a:spLocks noGrp="1"/>
          </p:cNvSpPr>
          <p:nvPr>
            <p:ph type="sldNum" sz="quarter" idx="12"/>
          </p:nvPr>
        </p:nvSpPr>
        <p:spPr/>
        <p:txBody>
          <a:bodyPr/>
          <a:lstStyle/>
          <a:p>
            <a:fld id="{AB872730-9A74-4497-B7D6-02B393744B30}" type="slidenum">
              <a:rPr lang="ru-RU" smtClean="0"/>
              <a:t>‹#›</a:t>
            </a:fld>
            <a:endParaRPr lang="ru-RU"/>
          </a:p>
        </p:txBody>
      </p:sp>
    </p:spTree>
    <p:extLst>
      <p:ext uri="{BB962C8B-B14F-4D97-AF65-F5344CB8AC3E}">
        <p14:creationId xmlns:p14="http://schemas.microsoft.com/office/powerpoint/2010/main" val="788855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DCDFF5-79A4-0D95-07AF-93DADCAE2A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5FB07666-B9F0-0D74-46F1-1EDF48D725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62076D0-3070-6047-9F35-8A13A6D1BB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82A7D1D-C3CF-43DB-A0C0-D2D3DBCDE8F3}" type="datetime1">
              <a:rPr lang="ru-RU" smtClean="0"/>
              <a:t>22.03.2026</a:t>
            </a:fld>
            <a:endParaRPr lang="ru-RU"/>
          </a:p>
        </p:txBody>
      </p:sp>
      <p:sp>
        <p:nvSpPr>
          <p:cNvPr id="5" name="Нижний колонтитул 4">
            <a:extLst>
              <a:ext uri="{FF2B5EF4-FFF2-40B4-BE49-F238E27FC236}">
                <a16:creationId xmlns:a16="http://schemas.microsoft.com/office/drawing/2014/main" id="{1D1B3B29-FE57-C3ED-6120-E344405245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D1EA0011-4D9F-2E9B-B65F-7982262E3C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872730-9A74-4497-B7D6-02B393744B30}" type="slidenum">
              <a:rPr lang="ru-RU" smtClean="0"/>
              <a:t>‹#›</a:t>
            </a:fld>
            <a:endParaRPr lang="ru-RU"/>
          </a:p>
        </p:txBody>
      </p:sp>
    </p:spTree>
    <p:extLst>
      <p:ext uri="{BB962C8B-B14F-4D97-AF65-F5344CB8AC3E}">
        <p14:creationId xmlns:p14="http://schemas.microsoft.com/office/powerpoint/2010/main" val="32509230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hyperlink" Target="https://doi.org/10.1007/s10664-010-9136-6" TargetMode="External"/><Relationship Id="rId3" Type="http://schemas.openxmlformats.org/officeDocument/2006/relationships/hyperlink" Target="https://doi.org/10.1145/1753326.1753716" TargetMode="External"/><Relationship Id="rId7" Type="http://schemas.openxmlformats.org/officeDocument/2006/relationships/hyperlink" Target="https://doi.org/10.1073/pnas.1900949116"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doi.org/10.1093/qje/qjx022" TargetMode="External"/><Relationship Id="rId5" Type="http://schemas.openxmlformats.org/officeDocument/2006/relationships/hyperlink" Target="https://doi.org/10.1177/0894439310386567" TargetMode="External"/><Relationship Id="rId4" Type="http://schemas.openxmlformats.org/officeDocument/2006/relationships/hyperlink" Target="https://doi.org/10.1109/TVCG.2013.234" TargetMode="External"/><Relationship Id="rId9" Type="http://schemas.openxmlformats.org/officeDocument/2006/relationships/hyperlink" Target="https://doi.org/10.1177/0093650210386104"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917445-5B17-7D09-69C7-828F74AB6CBA}"/>
              </a:ext>
            </a:extLst>
          </p:cNvPr>
          <p:cNvSpPr>
            <a:spLocks noGrp="1"/>
          </p:cNvSpPr>
          <p:nvPr>
            <p:ph type="ctrTitle"/>
          </p:nvPr>
        </p:nvSpPr>
        <p:spPr>
          <a:xfrm>
            <a:off x="1524000" y="1430215"/>
            <a:ext cx="9144000" cy="3192585"/>
          </a:xfrm>
        </p:spPr>
        <p:txBody>
          <a:bodyPr>
            <a:normAutofit fontScale="90000"/>
          </a:bodyPr>
          <a:lstStyle/>
          <a:p>
            <a:r>
              <a:rPr lang="en-US" b="1" dirty="0">
                <a:cs typeface="Segoe UI Semibold" panose="020B0702040204020203" pitchFamily="34" charset="0"/>
              </a:rPr>
              <a:t>Development of a Web Service for Creating and Managing an Interactive Digital Portfolio and Resume</a:t>
            </a:r>
            <a:endParaRPr lang="ru-RU" b="1" dirty="0">
              <a:cs typeface="Segoe UI Semibold" panose="020B0702040204020203" pitchFamily="34" charset="0"/>
            </a:endParaRPr>
          </a:p>
        </p:txBody>
      </p:sp>
      <p:sp>
        <p:nvSpPr>
          <p:cNvPr id="3" name="Подзаголовок 2">
            <a:extLst>
              <a:ext uri="{FF2B5EF4-FFF2-40B4-BE49-F238E27FC236}">
                <a16:creationId xmlns:a16="http://schemas.microsoft.com/office/drawing/2014/main" id="{B041B69E-3835-F288-71F0-131072275DF2}"/>
              </a:ext>
            </a:extLst>
          </p:cNvPr>
          <p:cNvSpPr>
            <a:spLocks noGrp="1"/>
          </p:cNvSpPr>
          <p:nvPr>
            <p:ph type="subTitle" idx="1"/>
          </p:nvPr>
        </p:nvSpPr>
        <p:spPr>
          <a:xfrm>
            <a:off x="1524000" y="5813594"/>
            <a:ext cx="9144000" cy="777706"/>
          </a:xfrm>
        </p:spPr>
        <p:txBody>
          <a:bodyPr>
            <a:normAutofit/>
          </a:bodyPr>
          <a:lstStyle/>
          <a:p>
            <a:r>
              <a:rPr lang="en-US" dirty="0">
                <a:latin typeface="+mj-lt"/>
              </a:rPr>
              <a:t>Melnik Ekaterina</a:t>
            </a:r>
            <a:br>
              <a:rPr lang="en-US" dirty="0">
                <a:latin typeface="+mj-lt"/>
              </a:rPr>
            </a:br>
            <a:r>
              <a:rPr lang="en-US" dirty="0">
                <a:latin typeface="+mj-lt"/>
              </a:rPr>
              <a:t>Lyudmila Lyadova - supervisor</a:t>
            </a:r>
          </a:p>
        </p:txBody>
      </p:sp>
    </p:spTree>
    <p:extLst>
      <p:ext uri="{BB962C8B-B14F-4D97-AF65-F5344CB8AC3E}">
        <p14:creationId xmlns:p14="http://schemas.microsoft.com/office/powerpoint/2010/main" val="3457088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4" name="Picture 4" descr="график маркетинг идея спорт значок">
            <a:extLst>
              <a:ext uri="{FF2B5EF4-FFF2-40B4-BE49-F238E27FC236}">
                <a16:creationId xmlns:a16="http://schemas.microsoft.com/office/drawing/2014/main" id="{27FECA18-B259-5824-239C-4C7D08A89F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69" y="2418567"/>
            <a:ext cx="4876800" cy="4876800"/>
          </a:xfrm>
          <a:prstGeom prst="rect">
            <a:avLst/>
          </a:prstGeom>
          <a:noFill/>
          <a:extLst>
            <a:ext uri="{909E8E84-426E-40DD-AFC4-6F175D3DCCD1}">
              <a14:hiddenFill xmlns:a14="http://schemas.microsoft.com/office/drawing/2010/main">
                <a:solidFill>
                  <a:srgbClr val="FFFFFF"/>
                </a:solidFill>
              </a14:hiddenFill>
            </a:ext>
          </a:extLst>
        </p:spPr>
      </p:pic>
      <p:sp>
        <p:nvSpPr>
          <p:cNvPr id="6" name="Заголовок 5">
            <a:extLst>
              <a:ext uri="{FF2B5EF4-FFF2-40B4-BE49-F238E27FC236}">
                <a16:creationId xmlns:a16="http://schemas.microsoft.com/office/drawing/2014/main" id="{7A1BB97D-03F9-1418-93AF-5F874F86AE2F}"/>
              </a:ext>
            </a:extLst>
          </p:cNvPr>
          <p:cNvSpPr>
            <a:spLocks noGrp="1"/>
          </p:cNvSpPr>
          <p:nvPr>
            <p:ph type="title"/>
          </p:nvPr>
        </p:nvSpPr>
        <p:spPr/>
        <p:txBody>
          <a:bodyPr>
            <a:normAutofit/>
          </a:bodyPr>
          <a:lstStyle/>
          <a:p>
            <a:r>
              <a:rPr lang="en-US" b="1" dirty="0">
                <a:cs typeface="Segoe UI Semibold" panose="020B0702040204020203" pitchFamily="34" charset="0"/>
              </a:rPr>
              <a:t>The Modern Challenge of Professional </a:t>
            </a:r>
            <a:br>
              <a:rPr lang="en-US" b="1" dirty="0">
                <a:cs typeface="Segoe UI Semibold" panose="020B0702040204020203" pitchFamily="34" charset="0"/>
              </a:rPr>
            </a:br>
            <a:r>
              <a:rPr lang="en-US" b="1" dirty="0">
                <a:cs typeface="Segoe UI Semibold" panose="020B0702040204020203" pitchFamily="34" charset="0"/>
              </a:rPr>
              <a:t>Self-Presentation</a:t>
            </a:r>
            <a:endParaRPr lang="ru-RU" dirty="0">
              <a:cs typeface="Segoe UI Semibold" panose="020B0702040204020203" pitchFamily="34" charset="0"/>
            </a:endParaRPr>
          </a:p>
        </p:txBody>
      </p:sp>
      <p:sp>
        <p:nvSpPr>
          <p:cNvPr id="4" name="AutoShape 2">
            <a:extLst>
              <a:ext uri="{FF2B5EF4-FFF2-40B4-BE49-F238E27FC236}">
                <a16:creationId xmlns:a16="http://schemas.microsoft.com/office/drawing/2014/main" id="{72FC500C-D7C9-EC46-DDBE-F23160E7143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5122" name="Picture 2">
            <a:extLst>
              <a:ext uri="{FF2B5EF4-FFF2-40B4-BE49-F238E27FC236}">
                <a16:creationId xmlns:a16="http://schemas.microsoft.com/office/drawing/2014/main" id="{E846DC3E-C11D-256F-22A2-63AC9636B844}"/>
              </a:ext>
            </a:extLst>
          </p:cNvPr>
          <p:cNvPicPr>
            <a:picLocks noChangeAspect="1" noChangeArrowheads="1"/>
          </p:cNvPicPr>
          <p:nvPr/>
        </p:nvPicPr>
        <p:blipFill rotWithShape="1">
          <a:blip r:embed="rId4">
            <a:grayscl/>
            <a:extLst>
              <a:ext uri="{28A0092B-C50C-407E-A947-70E740481C1C}">
                <a14:useLocalDpi xmlns:a14="http://schemas.microsoft.com/office/drawing/2010/main" val="0"/>
              </a:ext>
            </a:extLst>
          </a:blip>
          <a:srcRect t="443" b="1"/>
          <a:stretch>
            <a:fillRect/>
          </a:stretch>
        </p:blipFill>
        <p:spPr bwMode="auto">
          <a:xfrm>
            <a:off x="3941001" y="1808480"/>
            <a:ext cx="4614797" cy="459436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график маркетинг идея спорт значок">
            <a:extLst>
              <a:ext uri="{FF2B5EF4-FFF2-40B4-BE49-F238E27FC236}">
                <a16:creationId xmlns:a16="http://schemas.microsoft.com/office/drawing/2014/main" id="{9E0316CA-49BD-BDDF-C63C-8165AA72A0A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98" r="49229" b="34011"/>
          <a:stretch>
            <a:fillRect/>
          </a:stretch>
        </p:blipFill>
        <p:spPr bwMode="auto">
          <a:xfrm rot="10800000" flipV="1">
            <a:off x="8400388" y="960120"/>
            <a:ext cx="2475977" cy="3135325"/>
          </a:xfrm>
          <a:prstGeom prst="rect">
            <a:avLst/>
          </a:prstGeom>
          <a:noFill/>
          <a:extLst>
            <a:ext uri="{909E8E84-426E-40DD-AFC4-6F175D3DCCD1}">
              <a14:hiddenFill xmlns:a14="http://schemas.microsoft.com/office/drawing/2010/main">
                <a:solidFill>
                  <a:srgbClr val="FFFFFF"/>
                </a:solidFill>
              </a14:hiddenFill>
            </a:ext>
          </a:extLst>
        </p:spPr>
      </p:pic>
      <p:sp>
        <p:nvSpPr>
          <p:cNvPr id="8" name="Номер слайда 7">
            <a:extLst>
              <a:ext uri="{FF2B5EF4-FFF2-40B4-BE49-F238E27FC236}">
                <a16:creationId xmlns:a16="http://schemas.microsoft.com/office/drawing/2014/main" id="{F3FD6836-B83A-ECE6-48B3-4C9E4D8D5F4E}"/>
              </a:ext>
            </a:extLst>
          </p:cNvPr>
          <p:cNvSpPr>
            <a:spLocks noGrp="1"/>
          </p:cNvSpPr>
          <p:nvPr>
            <p:ph type="sldNum" sz="quarter" idx="12"/>
          </p:nvPr>
        </p:nvSpPr>
        <p:spPr>
          <a:xfrm>
            <a:off x="9448800" y="0"/>
            <a:ext cx="2743200" cy="365125"/>
          </a:xfrm>
        </p:spPr>
        <p:txBody>
          <a:bodyPr/>
          <a:lstStyle/>
          <a:p>
            <a:fld id="{AB872730-9A74-4497-B7D6-02B393744B30}" type="slidenum">
              <a:rPr lang="ru-RU" smtClean="0"/>
              <a:t>2</a:t>
            </a:fld>
            <a:r>
              <a:rPr lang="ru-RU" dirty="0"/>
              <a:t>  / 15</a:t>
            </a:r>
          </a:p>
        </p:txBody>
      </p:sp>
    </p:spTree>
    <p:extLst>
      <p:ext uri="{BB962C8B-B14F-4D97-AF65-F5344CB8AC3E}">
        <p14:creationId xmlns:p14="http://schemas.microsoft.com/office/powerpoint/2010/main" val="759342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F1FB1C-E020-7D93-C5E7-A220FF4DFC71}"/>
              </a:ext>
            </a:extLst>
          </p:cNvPr>
          <p:cNvSpPr>
            <a:spLocks noGrp="1"/>
          </p:cNvSpPr>
          <p:nvPr>
            <p:ph type="title"/>
          </p:nvPr>
        </p:nvSpPr>
        <p:spPr/>
        <p:txBody>
          <a:bodyPr/>
          <a:lstStyle/>
          <a:p>
            <a:r>
              <a:rPr lang="en-US" b="1" dirty="0">
                <a:cs typeface="Segoe UI Semibold" panose="020B0702040204020203" pitchFamily="34" charset="0"/>
              </a:rPr>
              <a:t>The Gap in Current Solutions</a:t>
            </a:r>
            <a:endParaRPr lang="ru-RU" dirty="0">
              <a:cs typeface="Segoe UI Semibold" panose="020B0702040204020203" pitchFamily="34" charset="0"/>
            </a:endParaRPr>
          </a:p>
        </p:txBody>
      </p:sp>
      <p:sp>
        <p:nvSpPr>
          <p:cNvPr id="4" name="AutoShape 2">
            <a:extLst>
              <a:ext uri="{FF2B5EF4-FFF2-40B4-BE49-F238E27FC236}">
                <a16:creationId xmlns:a16="http://schemas.microsoft.com/office/drawing/2014/main" id="{F38A61C2-BA29-E255-A1D0-17C851B4750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latin typeface="+mj-lt"/>
            </a:endParaRPr>
          </a:p>
        </p:txBody>
      </p:sp>
      <p:pic>
        <p:nvPicPr>
          <p:cNvPr id="1026" name="Picture 2" descr="Изображение логотипа">
            <a:extLst>
              <a:ext uri="{FF2B5EF4-FFF2-40B4-BE49-F238E27FC236}">
                <a16:creationId xmlns:a16="http://schemas.microsoft.com/office/drawing/2014/main" id="{229FB0DA-8265-1D2D-97C6-03D878D868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546" y="5772989"/>
            <a:ext cx="1814501" cy="4572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8CE7AFA-268C-F0BB-0FCD-6287357DBC6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9815" b="26099"/>
          <a:stretch>
            <a:fillRect/>
          </a:stretch>
        </p:blipFill>
        <p:spPr bwMode="auto">
          <a:xfrm>
            <a:off x="4898097" y="5627148"/>
            <a:ext cx="1963694" cy="86572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AD475168-C670-E810-F5CE-1A2241CF99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37904" y="5772989"/>
            <a:ext cx="2526049" cy="63151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2B57A129-283F-3E36-C7E4-5A0D7481070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1204" t="13309" r="26281" b="18311"/>
          <a:stretch>
            <a:fillRect/>
          </a:stretch>
        </p:blipFill>
        <p:spPr bwMode="auto">
          <a:xfrm>
            <a:off x="2666103" y="5592047"/>
            <a:ext cx="2093938" cy="81913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icture background">
            <a:extLst>
              <a:ext uri="{FF2B5EF4-FFF2-40B4-BE49-F238E27FC236}">
                <a16:creationId xmlns:a16="http://schemas.microsoft.com/office/drawing/2014/main" id="{2D78A572-B01D-D52D-FB2B-CFB9FEC4F40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40066" y="5862366"/>
            <a:ext cx="1939961" cy="33873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Таблица 11">
            <a:extLst>
              <a:ext uri="{FF2B5EF4-FFF2-40B4-BE49-F238E27FC236}">
                <a16:creationId xmlns:a16="http://schemas.microsoft.com/office/drawing/2014/main" id="{C4C0E0FD-6CC9-671B-6518-F3D251567DD3}"/>
              </a:ext>
            </a:extLst>
          </p:cNvPr>
          <p:cNvGraphicFramePr>
            <a:graphicFrameLocks noGrp="1"/>
          </p:cNvGraphicFramePr>
          <p:nvPr>
            <p:extLst>
              <p:ext uri="{D42A27DB-BD31-4B8C-83A1-F6EECF244321}">
                <p14:modId xmlns:p14="http://schemas.microsoft.com/office/powerpoint/2010/main" val="3898625395"/>
              </p:ext>
            </p:extLst>
          </p:nvPr>
        </p:nvGraphicFramePr>
        <p:xfrm>
          <a:off x="838199" y="1690688"/>
          <a:ext cx="10515600" cy="3656806"/>
        </p:xfrm>
        <a:graphic>
          <a:graphicData uri="http://schemas.openxmlformats.org/drawingml/2006/table">
            <a:tbl>
              <a:tblPr firstRow="1" bandRow="1">
                <a:tableStyleId>{073A0DAA-6AF3-43AB-8588-CEC1D06C72B9}</a:tableStyleId>
              </a:tblPr>
              <a:tblGrid>
                <a:gridCol w="5257800">
                  <a:extLst>
                    <a:ext uri="{9D8B030D-6E8A-4147-A177-3AD203B41FA5}">
                      <a16:colId xmlns:a16="http://schemas.microsoft.com/office/drawing/2014/main" val="922087472"/>
                    </a:ext>
                  </a:extLst>
                </a:gridCol>
                <a:gridCol w="5257800">
                  <a:extLst>
                    <a:ext uri="{9D8B030D-6E8A-4147-A177-3AD203B41FA5}">
                      <a16:colId xmlns:a16="http://schemas.microsoft.com/office/drawing/2014/main" val="2748626083"/>
                    </a:ext>
                  </a:extLst>
                </a:gridCol>
              </a:tblGrid>
              <a:tr h="534722">
                <a:tc>
                  <a:txBody>
                    <a:bodyPr/>
                    <a:lstStyle/>
                    <a:p>
                      <a:pPr algn="l">
                        <a:lnSpc>
                          <a:spcPts val="1875"/>
                        </a:lnSpc>
                        <a:buNone/>
                      </a:pPr>
                      <a:r>
                        <a:rPr lang="en-US" sz="2400" b="1" dirty="0">
                          <a:effectLst/>
                          <a:latin typeface="+mj-lt"/>
                        </a:rPr>
                        <a:t>Category</a:t>
                      </a:r>
                    </a:p>
                  </a:txBody>
                  <a:tcPr marR="121920" marT="76200" marB="76200" anchor="ctr"/>
                </a:tc>
                <a:tc>
                  <a:txBody>
                    <a:bodyPr/>
                    <a:lstStyle/>
                    <a:p>
                      <a:pPr algn="l">
                        <a:lnSpc>
                          <a:spcPts val="1875"/>
                        </a:lnSpc>
                        <a:buNone/>
                      </a:pPr>
                      <a:r>
                        <a:rPr lang="en-US" sz="2400" b="1" dirty="0">
                          <a:effectLst/>
                          <a:latin typeface="+mj-lt"/>
                        </a:rPr>
                        <a:t>Key Limitation</a:t>
                      </a:r>
                    </a:p>
                  </a:txBody>
                  <a:tcPr marL="121920" marR="121920" marT="76200" marB="76200" anchor="ctr"/>
                </a:tc>
                <a:extLst>
                  <a:ext uri="{0D108BD9-81ED-4DB2-BD59-A6C34878D82A}">
                    <a16:rowId xmlns:a16="http://schemas.microsoft.com/office/drawing/2014/main" val="1177431935"/>
                  </a:ext>
                </a:extLst>
              </a:tr>
              <a:tr h="862454">
                <a:tc>
                  <a:txBody>
                    <a:bodyPr/>
                    <a:lstStyle/>
                    <a:p>
                      <a:pPr>
                        <a:lnSpc>
                          <a:spcPts val="1875"/>
                        </a:lnSpc>
                        <a:buNone/>
                      </a:pPr>
                      <a:r>
                        <a:rPr lang="en-US" sz="2400" b="0" dirty="0">
                          <a:effectLst/>
                          <a:latin typeface="+mj-lt"/>
                        </a:rPr>
                        <a:t>Professional Networks</a:t>
                      </a:r>
                    </a:p>
                  </a:txBody>
                  <a:tcPr marR="121920" marT="76200" marB="76200" anchor="ctr"/>
                </a:tc>
                <a:tc>
                  <a:txBody>
                    <a:bodyPr/>
                    <a:lstStyle/>
                    <a:p>
                      <a:pPr>
                        <a:lnSpc>
                          <a:spcPts val="1875"/>
                        </a:lnSpc>
                        <a:buNone/>
                      </a:pPr>
                      <a:r>
                        <a:rPr lang="en-US" sz="2400" b="0">
                          <a:effectLst/>
                          <a:latin typeface="+mj-lt"/>
                        </a:rPr>
                        <a:t>No deep project visualization</a:t>
                      </a:r>
                    </a:p>
                  </a:txBody>
                  <a:tcPr marL="121920" marT="76200" marB="76200" anchor="ctr"/>
                </a:tc>
                <a:extLst>
                  <a:ext uri="{0D108BD9-81ED-4DB2-BD59-A6C34878D82A}">
                    <a16:rowId xmlns:a16="http://schemas.microsoft.com/office/drawing/2014/main" val="3234200080"/>
                  </a:ext>
                </a:extLst>
              </a:tr>
              <a:tr h="534722">
                <a:tc>
                  <a:txBody>
                    <a:bodyPr/>
                    <a:lstStyle/>
                    <a:p>
                      <a:pPr>
                        <a:lnSpc>
                          <a:spcPts val="1875"/>
                        </a:lnSpc>
                        <a:buNone/>
                      </a:pPr>
                      <a:r>
                        <a:rPr lang="en-US" sz="2400" b="0" dirty="0">
                          <a:effectLst/>
                          <a:latin typeface="+mj-lt"/>
                        </a:rPr>
                        <a:t>Design Portfolios</a:t>
                      </a:r>
                    </a:p>
                  </a:txBody>
                  <a:tcPr marR="121920" marT="76200" marB="76200" anchor="ctr"/>
                </a:tc>
                <a:tc>
                  <a:txBody>
                    <a:bodyPr/>
                    <a:lstStyle/>
                    <a:p>
                      <a:pPr>
                        <a:lnSpc>
                          <a:spcPts val="1875"/>
                        </a:lnSpc>
                        <a:buNone/>
                      </a:pPr>
                      <a:r>
                        <a:rPr lang="en-US" sz="2400" b="0" dirty="0">
                          <a:effectLst/>
                          <a:latin typeface="+mj-lt"/>
                        </a:rPr>
                        <a:t>Niche audience, no resume</a:t>
                      </a:r>
                    </a:p>
                  </a:txBody>
                  <a:tcPr marL="121920" marT="76200" marB="76200" anchor="ctr"/>
                </a:tc>
                <a:extLst>
                  <a:ext uri="{0D108BD9-81ED-4DB2-BD59-A6C34878D82A}">
                    <a16:rowId xmlns:a16="http://schemas.microsoft.com/office/drawing/2014/main" val="4019953394"/>
                  </a:ext>
                </a:extLst>
              </a:tr>
              <a:tr h="862454">
                <a:tc>
                  <a:txBody>
                    <a:bodyPr/>
                    <a:lstStyle/>
                    <a:p>
                      <a:pPr>
                        <a:lnSpc>
                          <a:spcPts val="1875"/>
                        </a:lnSpc>
                        <a:buNone/>
                      </a:pPr>
                      <a:r>
                        <a:rPr lang="en-US" sz="2400" b="0" dirty="0">
                          <a:effectLst/>
                          <a:latin typeface="+mj-lt"/>
                        </a:rPr>
                        <a:t>Resume Builders</a:t>
                      </a:r>
                    </a:p>
                  </a:txBody>
                  <a:tcPr marR="121920" marT="76200" marB="76200" anchor="ctr"/>
                </a:tc>
                <a:tc>
                  <a:txBody>
                    <a:bodyPr/>
                    <a:lstStyle/>
                    <a:p>
                      <a:pPr>
                        <a:lnSpc>
                          <a:spcPts val="1875"/>
                        </a:lnSpc>
                        <a:buNone/>
                      </a:pPr>
                      <a:r>
                        <a:rPr lang="en-US" sz="2400" b="0" dirty="0">
                          <a:effectLst/>
                          <a:latin typeface="+mj-lt"/>
                        </a:rPr>
                        <a:t>Static format, weak project display</a:t>
                      </a:r>
                    </a:p>
                  </a:txBody>
                  <a:tcPr marL="121920" marT="76200" marB="76200" anchor="ctr"/>
                </a:tc>
                <a:extLst>
                  <a:ext uri="{0D108BD9-81ED-4DB2-BD59-A6C34878D82A}">
                    <a16:rowId xmlns:a16="http://schemas.microsoft.com/office/drawing/2014/main" val="2668109517"/>
                  </a:ext>
                </a:extLst>
              </a:tr>
              <a:tr h="862454">
                <a:tc>
                  <a:txBody>
                    <a:bodyPr/>
                    <a:lstStyle/>
                    <a:p>
                      <a:pPr>
                        <a:lnSpc>
                          <a:spcPts val="1875"/>
                        </a:lnSpc>
                        <a:buNone/>
                      </a:pPr>
                      <a:r>
                        <a:rPr lang="en-US" sz="2400" b="0" dirty="0">
                          <a:effectLst/>
                          <a:latin typeface="+mj-lt"/>
                        </a:rPr>
                        <a:t>Code Repositories</a:t>
                      </a:r>
                    </a:p>
                  </a:txBody>
                  <a:tcPr marR="121920" marT="76200" marB="76200" anchor="ctr"/>
                </a:tc>
                <a:tc>
                  <a:txBody>
                    <a:bodyPr/>
                    <a:lstStyle/>
                    <a:p>
                      <a:pPr>
                        <a:lnSpc>
                          <a:spcPts val="1875"/>
                        </a:lnSpc>
                        <a:buNone/>
                      </a:pPr>
                      <a:r>
                        <a:rPr lang="en-US" sz="2400" b="0" dirty="0">
                          <a:effectLst/>
                          <a:latin typeface="+mj-lt"/>
                        </a:rPr>
                        <a:t>Code-focused, no visual portfolio or career analytics</a:t>
                      </a:r>
                    </a:p>
                  </a:txBody>
                  <a:tcPr marL="121920" marT="76200" marB="76200" anchor="ctr"/>
                </a:tc>
                <a:extLst>
                  <a:ext uri="{0D108BD9-81ED-4DB2-BD59-A6C34878D82A}">
                    <a16:rowId xmlns:a16="http://schemas.microsoft.com/office/drawing/2014/main" val="2830687096"/>
                  </a:ext>
                </a:extLst>
              </a:tr>
            </a:tbl>
          </a:graphicData>
        </a:graphic>
      </p:graphicFrame>
      <p:sp>
        <p:nvSpPr>
          <p:cNvPr id="6" name="Номер слайда 5">
            <a:extLst>
              <a:ext uri="{FF2B5EF4-FFF2-40B4-BE49-F238E27FC236}">
                <a16:creationId xmlns:a16="http://schemas.microsoft.com/office/drawing/2014/main" id="{00F1D526-F9BC-E737-BFB8-BD3283CC1846}"/>
              </a:ext>
            </a:extLst>
          </p:cNvPr>
          <p:cNvSpPr>
            <a:spLocks noGrp="1"/>
          </p:cNvSpPr>
          <p:nvPr>
            <p:ph type="sldNum" sz="quarter" idx="12"/>
          </p:nvPr>
        </p:nvSpPr>
        <p:spPr>
          <a:xfrm>
            <a:off x="9448800" y="0"/>
            <a:ext cx="2743200" cy="365125"/>
          </a:xfrm>
        </p:spPr>
        <p:txBody>
          <a:bodyPr/>
          <a:lstStyle/>
          <a:p>
            <a:fld id="{AB872730-9A74-4497-B7D6-02B393744B30}" type="slidenum">
              <a:rPr lang="ru-RU" smtClean="0">
                <a:latin typeface="+mj-lt"/>
              </a:rPr>
              <a:t>3</a:t>
            </a:fld>
            <a:r>
              <a:rPr lang="ru-RU" dirty="0">
                <a:latin typeface="+mj-lt"/>
              </a:rPr>
              <a:t>  / 15</a:t>
            </a:r>
          </a:p>
        </p:txBody>
      </p:sp>
    </p:spTree>
    <p:extLst>
      <p:ext uri="{BB962C8B-B14F-4D97-AF65-F5344CB8AC3E}">
        <p14:creationId xmlns:p14="http://schemas.microsoft.com/office/powerpoint/2010/main" val="1795741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4" name="Объект 3">
            <a:extLst>
              <a:ext uri="{FF2B5EF4-FFF2-40B4-BE49-F238E27FC236}">
                <a16:creationId xmlns:a16="http://schemas.microsoft.com/office/drawing/2014/main" id="{CFFB87F0-6268-C403-2137-FE99E4C002E0}"/>
              </a:ext>
            </a:extLst>
          </p:cNvPr>
          <p:cNvGraphicFramePr>
            <a:graphicFrameLocks noGrp="1"/>
          </p:cNvGraphicFramePr>
          <p:nvPr>
            <p:ph idx="1"/>
            <p:extLst>
              <p:ext uri="{D42A27DB-BD31-4B8C-83A1-F6EECF244321}">
                <p14:modId xmlns:p14="http://schemas.microsoft.com/office/powerpoint/2010/main" val="343127094"/>
              </p:ext>
            </p:extLst>
          </p:nvPr>
        </p:nvGraphicFramePr>
        <p:xfrm>
          <a:off x="838200" y="1412336"/>
          <a:ext cx="10515600" cy="4942738"/>
        </p:xfrm>
        <a:graphic>
          <a:graphicData uri="http://schemas.openxmlformats.org/drawingml/2006/table">
            <a:tbl>
              <a:tblPr firstRow="1">
                <a:tableStyleId>{073A0DAA-6AF3-43AB-8588-CEC1D06C72B9}</a:tableStyleId>
              </a:tblPr>
              <a:tblGrid>
                <a:gridCol w="1606386">
                  <a:extLst>
                    <a:ext uri="{9D8B030D-6E8A-4147-A177-3AD203B41FA5}">
                      <a16:colId xmlns:a16="http://schemas.microsoft.com/office/drawing/2014/main" val="651676874"/>
                    </a:ext>
                  </a:extLst>
                </a:gridCol>
                <a:gridCol w="1457562">
                  <a:extLst>
                    <a:ext uri="{9D8B030D-6E8A-4147-A177-3AD203B41FA5}">
                      <a16:colId xmlns:a16="http://schemas.microsoft.com/office/drawing/2014/main" val="2242869581"/>
                    </a:ext>
                  </a:extLst>
                </a:gridCol>
                <a:gridCol w="1486864">
                  <a:extLst>
                    <a:ext uri="{9D8B030D-6E8A-4147-A177-3AD203B41FA5}">
                      <a16:colId xmlns:a16="http://schemas.microsoft.com/office/drawing/2014/main" val="800086632"/>
                    </a:ext>
                  </a:extLst>
                </a:gridCol>
                <a:gridCol w="1576533">
                  <a:extLst>
                    <a:ext uri="{9D8B030D-6E8A-4147-A177-3AD203B41FA5}">
                      <a16:colId xmlns:a16="http://schemas.microsoft.com/office/drawing/2014/main" val="3217325163"/>
                    </a:ext>
                  </a:extLst>
                </a:gridCol>
                <a:gridCol w="1436991">
                  <a:extLst>
                    <a:ext uri="{9D8B030D-6E8A-4147-A177-3AD203B41FA5}">
                      <a16:colId xmlns:a16="http://schemas.microsoft.com/office/drawing/2014/main" val="2174865464"/>
                    </a:ext>
                  </a:extLst>
                </a:gridCol>
                <a:gridCol w="1500265">
                  <a:extLst>
                    <a:ext uri="{9D8B030D-6E8A-4147-A177-3AD203B41FA5}">
                      <a16:colId xmlns:a16="http://schemas.microsoft.com/office/drawing/2014/main" val="1447134103"/>
                    </a:ext>
                  </a:extLst>
                </a:gridCol>
                <a:gridCol w="1450999">
                  <a:extLst>
                    <a:ext uri="{9D8B030D-6E8A-4147-A177-3AD203B41FA5}">
                      <a16:colId xmlns:a16="http://schemas.microsoft.com/office/drawing/2014/main" val="3130412852"/>
                    </a:ext>
                  </a:extLst>
                </a:gridCol>
              </a:tblGrid>
              <a:tr h="913422">
                <a:tc>
                  <a:txBody>
                    <a:bodyPr/>
                    <a:lstStyle/>
                    <a:p>
                      <a:pPr algn="l">
                        <a:lnSpc>
                          <a:spcPts val="1875"/>
                        </a:lnSpc>
                        <a:buNone/>
                      </a:pPr>
                      <a:r>
                        <a:rPr lang="en-US" sz="1600" b="1" dirty="0">
                          <a:effectLst/>
                          <a:latin typeface="+mn-lt"/>
                        </a:rPr>
                        <a:t>Platform</a:t>
                      </a:r>
                      <a:r>
                        <a:rPr lang="ru-RU" sz="1600" b="1" dirty="0">
                          <a:effectLst/>
                          <a:latin typeface="+mn-lt"/>
                        </a:rPr>
                        <a:t> / </a:t>
                      </a:r>
                      <a:r>
                        <a:rPr lang="en-US" sz="1600" b="1" dirty="0">
                          <a:effectLst/>
                          <a:latin typeface="+mn-lt"/>
                        </a:rPr>
                        <a:t>Feature</a:t>
                      </a:r>
                    </a:p>
                  </a:txBody>
                  <a:tcPr marL="89241" marR="118989" marT="74368" marB="74368" anchor="ctr"/>
                </a:tc>
                <a:tc>
                  <a:txBody>
                    <a:bodyPr/>
                    <a:lstStyle/>
                    <a:p>
                      <a:pPr algn="l">
                        <a:lnSpc>
                          <a:spcPts val="1875"/>
                        </a:lnSpc>
                        <a:buNone/>
                      </a:pPr>
                      <a:r>
                        <a:rPr lang="en-US" sz="1600" b="1" dirty="0">
                          <a:effectLst/>
                          <a:latin typeface="+mn-lt"/>
                        </a:rPr>
                        <a:t>Interactive Skill Visualization</a:t>
                      </a:r>
                    </a:p>
                  </a:txBody>
                  <a:tcPr marL="118989" marR="118989" marT="74368" marB="74368" anchor="ctr"/>
                </a:tc>
                <a:tc>
                  <a:txBody>
                    <a:bodyPr/>
                    <a:lstStyle/>
                    <a:p>
                      <a:pPr algn="l">
                        <a:lnSpc>
                          <a:spcPts val="1875"/>
                        </a:lnSpc>
                        <a:buNone/>
                      </a:pPr>
                      <a:r>
                        <a:rPr lang="en-US" sz="1600" b="1">
                          <a:effectLst/>
                          <a:latin typeface="+mn-lt"/>
                        </a:rPr>
                        <a:t>Rich Project Showcase</a:t>
                      </a:r>
                    </a:p>
                  </a:txBody>
                  <a:tcPr marL="118989" marR="118989" marT="74368" marB="74368" anchor="ctr"/>
                </a:tc>
                <a:tc>
                  <a:txBody>
                    <a:bodyPr/>
                    <a:lstStyle/>
                    <a:p>
                      <a:pPr algn="l">
                        <a:lnSpc>
                          <a:spcPts val="1875"/>
                        </a:lnSpc>
                        <a:buNone/>
                      </a:pPr>
                      <a:r>
                        <a:rPr lang="en-US" sz="1600" b="1" dirty="0">
                          <a:effectLst/>
                          <a:latin typeface="+mn-lt"/>
                        </a:rPr>
                        <a:t>Customizable Resume Templates</a:t>
                      </a:r>
                    </a:p>
                  </a:txBody>
                  <a:tcPr marL="118989" marR="118989" marT="74368" marB="74368" anchor="ctr"/>
                </a:tc>
                <a:tc>
                  <a:txBody>
                    <a:bodyPr/>
                    <a:lstStyle/>
                    <a:p>
                      <a:pPr algn="l">
                        <a:lnSpc>
                          <a:spcPts val="1875"/>
                        </a:lnSpc>
                        <a:buNone/>
                      </a:pPr>
                      <a:r>
                        <a:rPr lang="en-US" sz="1600" b="1">
                          <a:effectLst/>
                          <a:latin typeface="+mn-lt"/>
                        </a:rPr>
                        <a:t>PDF Export</a:t>
                      </a:r>
                    </a:p>
                  </a:txBody>
                  <a:tcPr marL="118989" marR="118989" marT="74368" marB="74368" anchor="ctr"/>
                </a:tc>
                <a:tc>
                  <a:txBody>
                    <a:bodyPr/>
                    <a:lstStyle/>
                    <a:p>
                      <a:pPr algn="l">
                        <a:lnSpc>
                          <a:spcPts val="1875"/>
                        </a:lnSpc>
                        <a:buNone/>
                      </a:pPr>
                      <a:r>
                        <a:rPr lang="en-US" sz="1600" b="1">
                          <a:effectLst/>
                          <a:latin typeface="+mn-lt"/>
                        </a:rPr>
                        <a:t>Public Profile Link</a:t>
                      </a:r>
                    </a:p>
                  </a:txBody>
                  <a:tcPr marL="118989" marR="118989" marT="74368" marB="74368" anchor="ctr"/>
                </a:tc>
                <a:tc>
                  <a:txBody>
                    <a:bodyPr/>
                    <a:lstStyle/>
                    <a:p>
                      <a:pPr algn="l">
                        <a:lnSpc>
                          <a:spcPts val="1875"/>
                        </a:lnSpc>
                        <a:buNone/>
                      </a:pPr>
                      <a:r>
                        <a:rPr lang="en-US" sz="1600" b="1" dirty="0">
                          <a:effectLst/>
                          <a:latin typeface="+mn-lt"/>
                        </a:rPr>
                        <a:t>Data-Driven Skill Analysis</a:t>
                      </a:r>
                    </a:p>
                  </a:txBody>
                  <a:tcPr marL="118989" marR="118989" marT="74368" marB="74368" anchor="ctr"/>
                </a:tc>
                <a:extLst>
                  <a:ext uri="{0D108BD9-81ED-4DB2-BD59-A6C34878D82A}">
                    <a16:rowId xmlns:a16="http://schemas.microsoft.com/office/drawing/2014/main" val="3485936310"/>
                  </a:ext>
                </a:extLst>
              </a:tr>
              <a:tr h="370908">
                <a:tc>
                  <a:txBody>
                    <a:bodyPr/>
                    <a:lstStyle/>
                    <a:p>
                      <a:pPr algn="l">
                        <a:lnSpc>
                          <a:spcPts val="1875"/>
                        </a:lnSpc>
                        <a:buNone/>
                      </a:pPr>
                      <a:r>
                        <a:rPr lang="en-US" sz="1600" b="1" u="none" strike="noStrike" dirty="0">
                          <a:solidFill>
                            <a:schemeClr val="tx1"/>
                          </a:solidFill>
                          <a:effectLst/>
                          <a:latin typeface="+mn-lt"/>
                        </a:rPr>
                        <a:t>About.me</a:t>
                      </a:r>
                      <a:endParaRPr lang="en-US" sz="1600" b="0" dirty="0">
                        <a:solidFill>
                          <a:schemeClr val="tx1"/>
                        </a:solidFill>
                        <a:effectLst/>
                        <a:latin typeface="+mn-lt"/>
                      </a:endParaRPr>
                    </a:p>
                  </a:txBody>
                  <a:tcPr marL="89241"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89241" marT="74368" marB="74368" anchor="ctr">
                    <a:solidFill>
                      <a:schemeClr val="bg1"/>
                    </a:solidFill>
                  </a:tcPr>
                </a:tc>
                <a:extLst>
                  <a:ext uri="{0D108BD9-81ED-4DB2-BD59-A6C34878D82A}">
                    <a16:rowId xmlns:a16="http://schemas.microsoft.com/office/drawing/2014/main" val="2346163081"/>
                  </a:ext>
                </a:extLst>
              </a:tr>
              <a:tr h="600374">
                <a:tc>
                  <a:txBody>
                    <a:bodyPr/>
                    <a:lstStyle/>
                    <a:p>
                      <a:pPr algn="l">
                        <a:lnSpc>
                          <a:spcPts val="1875"/>
                        </a:lnSpc>
                        <a:buNone/>
                      </a:pPr>
                      <a:r>
                        <a:rPr lang="en-US" sz="1600" b="1" dirty="0" err="1">
                          <a:effectLst/>
                          <a:latin typeface="+mn-lt"/>
                        </a:rPr>
                        <a:t>CakeResume</a:t>
                      </a:r>
                      <a:r>
                        <a:rPr lang="en-US" sz="1600" b="1" dirty="0">
                          <a:effectLst/>
                          <a:latin typeface="+mn-lt"/>
                        </a:rPr>
                        <a:t> / Kickresume</a:t>
                      </a:r>
                      <a:endParaRPr lang="en-US" sz="1600" b="0" dirty="0">
                        <a:effectLst/>
                        <a:latin typeface="+mn-lt"/>
                      </a:endParaRPr>
                    </a:p>
                  </a:txBody>
                  <a:tcPr marL="89241" marR="118989" marT="74368" marB="74368" anchor="ctr">
                    <a:solidFill>
                      <a:schemeClr val="bg1"/>
                    </a:solidFill>
                  </a:tcPr>
                </a:tc>
                <a:tc>
                  <a:txBody>
                    <a:bodyPr/>
                    <a:lstStyle/>
                    <a:p>
                      <a:pPr algn="ctr">
                        <a:lnSpc>
                          <a:spcPts val="1875"/>
                        </a:lnSpc>
                        <a:buNone/>
                      </a:pPr>
                      <a:r>
                        <a:rPr lang="ru-RU" sz="1600" b="0" dirty="0">
                          <a:ln w="0" cmpd="tri">
                            <a:noFill/>
                            <a:prstDash val="sysDash"/>
                          </a:ln>
                          <a:solidFill>
                            <a:schemeClr val="dk1"/>
                          </a:solidFill>
                          <a:effectLst>
                            <a:glow rad="50800">
                              <a:srgbClr val="FFFFFF"/>
                            </a:glow>
                          </a:effectLst>
                          <a:latin typeface="+mn-lt"/>
                        </a:rPr>
                        <a:t>!</a:t>
                      </a:r>
                      <a:br>
                        <a:rPr lang="ru-RU" sz="1600" b="0" dirty="0">
                          <a:ln>
                            <a:noFill/>
                          </a:ln>
                          <a:effectLst/>
                          <a:latin typeface="+mn-lt"/>
                        </a:rPr>
                      </a:br>
                      <a:r>
                        <a:rPr lang="en-US" sz="1600" b="0" dirty="0">
                          <a:ln>
                            <a:noFill/>
                          </a:ln>
                          <a:effectLst/>
                          <a:latin typeface="+mn-lt"/>
                        </a:rPr>
                        <a:t>(Basic)</a:t>
                      </a:r>
                    </a:p>
                  </a:txBody>
                  <a:tcPr marL="118989" marR="118989" marT="74368" marB="74368" anchor="ctr">
                    <a:solidFill>
                      <a:schemeClr val="bg1"/>
                    </a:solidFill>
                  </a:tcPr>
                </a:tc>
                <a:tc>
                  <a:txBody>
                    <a:bodyPr/>
                    <a:lstStyle/>
                    <a:p>
                      <a:pPr algn="ctr">
                        <a:lnSpc>
                          <a:spcPts val="1875"/>
                        </a:lnSpc>
                        <a:buNone/>
                      </a:pPr>
                      <a:r>
                        <a:rPr kumimoji="0" lang="ru-RU" sz="1600" b="0" i="0" u="none" strike="noStrike" kern="1200" cap="none" spc="0" normalizeH="0" baseline="0" noProof="0" dirty="0">
                          <a:ln w="0" cmpd="tri">
                            <a:noFill/>
                            <a:prstDash val="sysDash"/>
                          </a:ln>
                          <a:solidFill>
                            <a:prstClr val="black"/>
                          </a:solidFill>
                          <a:effectLst>
                            <a:glow rad="50800">
                              <a:srgbClr val="FFFFFF"/>
                            </a:glow>
                          </a:effectLst>
                          <a:uLnTx/>
                          <a:uFillTx/>
                          <a:latin typeface="+mn-lt"/>
                          <a:ea typeface="+mn-ea"/>
                          <a:cs typeface="+mn-cs"/>
                        </a:rPr>
                        <a:t>!</a:t>
                      </a:r>
                      <a:br>
                        <a:rPr lang="ru-RU" sz="1600" b="0" dirty="0">
                          <a:ln>
                            <a:noFill/>
                          </a:ln>
                          <a:effectLst/>
                          <a:latin typeface="+mn-lt"/>
                        </a:rPr>
                      </a:br>
                      <a:r>
                        <a:rPr lang="en-US" sz="1600" b="0" dirty="0">
                          <a:ln>
                            <a:noFill/>
                          </a:ln>
                          <a:effectLst/>
                          <a:latin typeface="+mn-lt"/>
                        </a:rPr>
                        <a:t> (Limited)</a:t>
                      </a: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89241" marT="74368" marB="74368" anchor="ctr">
                    <a:solidFill>
                      <a:schemeClr val="bg1"/>
                    </a:solidFill>
                  </a:tcPr>
                </a:tc>
                <a:extLst>
                  <a:ext uri="{0D108BD9-81ED-4DB2-BD59-A6C34878D82A}">
                    <a16:rowId xmlns:a16="http://schemas.microsoft.com/office/drawing/2014/main" val="2423471582"/>
                  </a:ext>
                </a:extLst>
              </a:tr>
              <a:tr h="600374">
                <a:tc>
                  <a:txBody>
                    <a:bodyPr/>
                    <a:lstStyle/>
                    <a:p>
                      <a:pPr algn="l">
                        <a:lnSpc>
                          <a:spcPts val="1875"/>
                        </a:lnSpc>
                        <a:buNone/>
                      </a:pPr>
                      <a:r>
                        <a:rPr lang="en-US" sz="1600" b="1" dirty="0">
                          <a:effectLst/>
                          <a:latin typeface="+mn-lt"/>
                        </a:rPr>
                        <a:t>Behance / </a:t>
                      </a:r>
                      <a:r>
                        <a:rPr lang="en-US" sz="1600" b="1" dirty="0" err="1">
                          <a:effectLst/>
                          <a:latin typeface="+mn-lt"/>
                        </a:rPr>
                        <a:t>Dribbble</a:t>
                      </a:r>
                      <a:endParaRPr lang="en-US" sz="1600" b="0" dirty="0">
                        <a:effectLst/>
                        <a:latin typeface="+mn-lt"/>
                      </a:endParaRPr>
                    </a:p>
                  </a:txBody>
                  <a:tcPr marL="89241"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r>
                        <a:rPr lang="ru-RU" sz="1600" b="0" dirty="0">
                          <a:ln>
                            <a:noFill/>
                          </a:ln>
                          <a:effectLst/>
                          <a:latin typeface="+mn-lt"/>
                        </a:rPr>
                        <a:t> </a:t>
                      </a:r>
                    </a:p>
                    <a:p>
                      <a:pPr algn="ctr">
                        <a:lnSpc>
                          <a:spcPts val="1875"/>
                        </a:lnSpc>
                        <a:buNone/>
                      </a:pPr>
                      <a:r>
                        <a:rPr lang="ru-RU" sz="1600" b="0" dirty="0">
                          <a:ln>
                            <a:noFill/>
                          </a:ln>
                          <a:effectLst/>
                          <a:latin typeface="+mn-lt"/>
                        </a:rPr>
                        <a:t>(</a:t>
                      </a:r>
                      <a:r>
                        <a:rPr lang="en-US" sz="1600" b="0" dirty="0">
                          <a:ln>
                            <a:noFill/>
                          </a:ln>
                          <a:effectLst/>
                          <a:latin typeface="+mn-lt"/>
                        </a:rPr>
                        <a:t>For</a:t>
                      </a:r>
                      <a:r>
                        <a:rPr lang="ru-RU" sz="1600" b="0" dirty="0">
                          <a:ln>
                            <a:noFill/>
                          </a:ln>
                          <a:effectLst/>
                          <a:latin typeface="+mn-lt"/>
                        </a:rPr>
                        <a:t> </a:t>
                      </a:r>
                      <a:r>
                        <a:rPr lang="en-US" sz="1600" b="0" dirty="0">
                          <a:ln>
                            <a:noFill/>
                          </a:ln>
                          <a:effectLst/>
                          <a:latin typeface="+mn-lt"/>
                        </a:rPr>
                        <a:t>design)</a:t>
                      </a: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89241" marT="74368" marB="74368" anchor="ctr">
                    <a:solidFill>
                      <a:schemeClr val="bg1"/>
                    </a:solidFill>
                  </a:tcPr>
                </a:tc>
                <a:extLst>
                  <a:ext uri="{0D108BD9-81ED-4DB2-BD59-A6C34878D82A}">
                    <a16:rowId xmlns:a16="http://schemas.microsoft.com/office/drawing/2014/main" val="2640629721"/>
                  </a:ext>
                </a:extLst>
              </a:tr>
              <a:tr h="600374">
                <a:tc>
                  <a:txBody>
                    <a:bodyPr/>
                    <a:lstStyle/>
                    <a:p>
                      <a:pPr algn="l">
                        <a:lnSpc>
                          <a:spcPts val="1875"/>
                        </a:lnSpc>
                        <a:buNone/>
                      </a:pPr>
                      <a:r>
                        <a:rPr lang="en-US" sz="1600" b="1">
                          <a:effectLst/>
                          <a:latin typeface="+mn-lt"/>
                        </a:rPr>
                        <a:t>LinkedIn</a:t>
                      </a:r>
                      <a:endParaRPr lang="en-US" sz="1600" b="0">
                        <a:effectLst/>
                        <a:latin typeface="+mn-lt"/>
                      </a:endParaRPr>
                    </a:p>
                  </a:txBody>
                  <a:tcPr marL="89241" marR="118989" marT="74368" marB="74368" anchor="ctr">
                    <a:solidFill>
                      <a:schemeClr val="bg1"/>
                    </a:solidFill>
                  </a:tcPr>
                </a:tc>
                <a:tc>
                  <a:txBody>
                    <a:bodyPr/>
                    <a:lstStyle/>
                    <a:p>
                      <a:pPr algn="ctr">
                        <a:lnSpc>
                          <a:spcPts val="1875"/>
                        </a:lnSpc>
                        <a:buNone/>
                      </a:pPr>
                      <a:r>
                        <a:rPr kumimoji="0" lang="ru-RU" sz="1600" b="0" i="0" u="none" strike="noStrike" kern="1200" cap="none" spc="0" normalizeH="0" baseline="0" noProof="0" dirty="0">
                          <a:ln w="0" cmpd="tri">
                            <a:noFill/>
                            <a:prstDash val="sysDash"/>
                          </a:ln>
                          <a:solidFill>
                            <a:prstClr val="black"/>
                          </a:solidFill>
                          <a:effectLst>
                            <a:glow rad="50800">
                              <a:srgbClr val="FFFFFF"/>
                            </a:glow>
                          </a:effectLst>
                          <a:uLnTx/>
                          <a:uFillTx/>
                          <a:latin typeface="+mn-lt"/>
                          <a:ea typeface="+mn-ea"/>
                          <a:cs typeface="+mn-cs"/>
                        </a:rPr>
                        <a:t>!</a:t>
                      </a:r>
                      <a:r>
                        <a:rPr lang="en-US" sz="1600" b="0" dirty="0">
                          <a:ln>
                            <a:noFill/>
                          </a:ln>
                          <a:effectLst/>
                          <a:latin typeface="+mn-lt"/>
                        </a:rPr>
                        <a:t> </a:t>
                      </a:r>
                      <a:br>
                        <a:rPr lang="ru-RU" sz="1600" b="0" dirty="0">
                          <a:ln>
                            <a:noFill/>
                          </a:ln>
                          <a:effectLst/>
                          <a:latin typeface="+mn-lt"/>
                        </a:rPr>
                      </a:br>
                      <a:r>
                        <a:rPr lang="en-US" sz="1600" b="0" dirty="0">
                          <a:ln>
                            <a:noFill/>
                          </a:ln>
                          <a:effectLst/>
                          <a:latin typeface="+mn-lt"/>
                        </a:rPr>
                        <a:t>(Simple list)</a:t>
                      </a:r>
                    </a:p>
                  </a:txBody>
                  <a:tcPr marL="118989" marR="118989" marT="74368" marB="74368" anchor="ctr">
                    <a:solidFill>
                      <a:schemeClr val="bg1"/>
                    </a:solidFill>
                  </a:tcPr>
                </a:tc>
                <a:tc>
                  <a:txBody>
                    <a:bodyPr/>
                    <a:lstStyle/>
                    <a:p>
                      <a:pPr algn="ctr">
                        <a:lnSpc>
                          <a:spcPts val="1875"/>
                        </a:lnSpc>
                        <a:buNone/>
                      </a:pPr>
                      <a:r>
                        <a:rPr kumimoji="0" lang="ru-RU" sz="1600" b="0" i="0" u="none" strike="noStrike" kern="1200" cap="none" spc="0" normalizeH="0" baseline="0" noProof="0" dirty="0">
                          <a:ln w="0" cmpd="tri">
                            <a:noFill/>
                            <a:prstDash val="sysDash"/>
                          </a:ln>
                          <a:solidFill>
                            <a:prstClr val="black"/>
                          </a:solidFill>
                          <a:effectLst>
                            <a:glow rad="50800">
                              <a:srgbClr val="FFFFFF"/>
                            </a:glow>
                          </a:effectLst>
                          <a:uLnTx/>
                          <a:uFillTx/>
                          <a:latin typeface="+mn-lt"/>
                          <a:ea typeface="+mn-ea"/>
                          <a:cs typeface="+mn-cs"/>
                        </a:rPr>
                        <a:t>!</a:t>
                      </a:r>
                      <a:r>
                        <a:rPr lang="en-US" sz="1600" b="0" dirty="0">
                          <a:ln>
                            <a:noFill/>
                          </a:ln>
                          <a:effectLst/>
                          <a:latin typeface="+mn-lt"/>
                        </a:rPr>
                        <a:t> </a:t>
                      </a:r>
                      <a:endParaRPr lang="ru-RU" sz="1600" b="0" dirty="0">
                        <a:ln>
                          <a:noFill/>
                        </a:ln>
                        <a:effectLst/>
                        <a:latin typeface="+mn-lt"/>
                      </a:endParaRPr>
                    </a:p>
                    <a:p>
                      <a:pPr algn="ctr">
                        <a:lnSpc>
                          <a:spcPts val="1875"/>
                        </a:lnSpc>
                        <a:buNone/>
                      </a:pPr>
                      <a:r>
                        <a:rPr lang="en-US" sz="1600" b="0" dirty="0">
                          <a:ln>
                            <a:noFill/>
                          </a:ln>
                          <a:effectLst/>
                          <a:latin typeface="+mn-lt"/>
                        </a:rPr>
                        <a:t>(Text-based)</a:t>
                      </a:r>
                    </a:p>
                  </a:txBody>
                  <a:tcPr marL="118989" marR="118989" marT="74368" marB="74368" anchor="ctr">
                    <a:solidFill>
                      <a:schemeClr val="bg1"/>
                    </a:solidFill>
                  </a:tcPr>
                </a:tc>
                <a:tc>
                  <a:txBody>
                    <a:bodyPr/>
                    <a:lstStyle/>
                    <a:p>
                      <a:pPr algn="ctr">
                        <a:lnSpc>
                          <a:spcPts val="1875"/>
                        </a:lnSpc>
                        <a:buNone/>
                      </a:pPr>
                      <a:r>
                        <a:rPr kumimoji="0" lang="ru-RU" sz="1600" b="0" i="0" u="none" strike="noStrike" kern="1200" cap="none" spc="0" normalizeH="0" baseline="0" noProof="0" dirty="0">
                          <a:ln w="0" cmpd="tri">
                            <a:noFill/>
                            <a:prstDash val="sysDash"/>
                          </a:ln>
                          <a:solidFill>
                            <a:prstClr val="black"/>
                          </a:solidFill>
                          <a:effectLst>
                            <a:glow rad="50800">
                              <a:srgbClr val="FFFFFF"/>
                            </a:glow>
                          </a:effectLst>
                          <a:uLnTx/>
                          <a:uFillTx/>
                          <a:latin typeface="+mn-lt"/>
                          <a:ea typeface="+mn-ea"/>
                          <a:cs typeface="+mn-cs"/>
                        </a:rPr>
                        <a:t>!</a:t>
                      </a:r>
                      <a:br>
                        <a:rPr lang="ru-RU" sz="1600" b="0" dirty="0">
                          <a:ln>
                            <a:noFill/>
                          </a:ln>
                          <a:effectLst/>
                          <a:latin typeface="+mn-lt"/>
                        </a:rPr>
                      </a:br>
                      <a:r>
                        <a:rPr lang="en-US" sz="1600" b="0" dirty="0">
                          <a:ln>
                            <a:noFill/>
                          </a:ln>
                          <a:effectLst/>
                          <a:latin typeface="+mn-lt"/>
                        </a:rPr>
                        <a:t>(Limited)</a:t>
                      </a:r>
                    </a:p>
                  </a:txBody>
                  <a:tcPr marL="118989" marR="118989" marT="74368" marB="74368" anchor="ctr">
                    <a:solidFill>
                      <a:schemeClr val="bg1"/>
                    </a:solidFill>
                  </a:tcPr>
                </a:tc>
                <a:tc>
                  <a:txBody>
                    <a:bodyPr/>
                    <a:lstStyle/>
                    <a:p>
                      <a:pPr algn="ctr">
                        <a:lnSpc>
                          <a:spcPts val="1875"/>
                        </a:lnSpc>
                        <a:buNone/>
                      </a:pPr>
                      <a:r>
                        <a:rPr kumimoji="0" lang="ru-RU" sz="1600" b="0" i="0" u="none" strike="noStrike" kern="1200" cap="none" spc="0" normalizeH="0" baseline="0" noProof="0" dirty="0">
                          <a:ln w="0" cmpd="tri">
                            <a:noFill/>
                            <a:prstDash val="sysDash"/>
                          </a:ln>
                          <a:solidFill>
                            <a:prstClr val="black"/>
                          </a:solidFill>
                          <a:effectLst>
                            <a:glow rad="50800">
                              <a:srgbClr val="FFFFFF"/>
                            </a:glow>
                          </a:effectLst>
                          <a:uLnTx/>
                          <a:uFillTx/>
                          <a:latin typeface="+mn-lt"/>
                          <a:ea typeface="+mn-ea"/>
                          <a:cs typeface="+mn-cs"/>
                        </a:rPr>
                        <a:t>!</a:t>
                      </a:r>
                      <a:br>
                        <a:rPr lang="ru-RU" sz="1600" b="0" dirty="0">
                          <a:ln>
                            <a:noFill/>
                          </a:ln>
                          <a:effectLst/>
                          <a:latin typeface="+mn-lt"/>
                        </a:rPr>
                      </a:br>
                      <a:r>
                        <a:rPr lang="en-US" sz="1600" b="0" dirty="0">
                          <a:ln>
                            <a:noFill/>
                          </a:ln>
                          <a:effectLst/>
                          <a:latin typeface="+mn-lt"/>
                        </a:rPr>
                        <a:t>(Basic)</a:t>
                      </a: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kumimoji="0" lang="ru-RU" sz="1600" b="0" i="0" u="none" strike="noStrike" kern="1200" cap="none" spc="0" normalizeH="0" baseline="0" noProof="0" dirty="0">
                          <a:ln w="0" cmpd="tri">
                            <a:noFill/>
                            <a:prstDash val="sysDash"/>
                          </a:ln>
                          <a:solidFill>
                            <a:prstClr val="black"/>
                          </a:solidFill>
                          <a:effectLst>
                            <a:glow rad="50800">
                              <a:srgbClr val="FFFFFF"/>
                            </a:glow>
                          </a:effectLst>
                          <a:uLnTx/>
                          <a:uFillTx/>
                          <a:latin typeface="+mn-lt"/>
                          <a:ea typeface="+mn-ea"/>
                          <a:cs typeface="+mn-cs"/>
                        </a:rPr>
                        <a:t>!</a:t>
                      </a:r>
                      <a:r>
                        <a:rPr lang="en-US" sz="1600" b="0" dirty="0">
                          <a:ln>
                            <a:noFill/>
                          </a:ln>
                          <a:effectLst/>
                          <a:latin typeface="+mn-lt"/>
                        </a:rPr>
                        <a:t> </a:t>
                      </a:r>
                      <a:endParaRPr lang="ru-RU" sz="1600" b="0" dirty="0">
                        <a:ln>
                          <a:noFill/>
                        </a:ln>
                        <a:effectLst/>
                        <a:latin typeface="+mn-lt"/>
                      </a:endParaRPr>
                    </a:p>
                    <a:p>
                      <a:pPr algn="ctr">
                        <a:lnSpc>
                          <a:spcPts val="1875"/>
                        </a:lnSpc>
                        <a:buNone/>
                      </a:pPr>
                      <a:r>
                        <a:rPr lang="en-US" sz="1600" b="0" dirty="0">
                          <a:ln>
                            <a:noFill/>
                          </a:ln>
                          <a:effectLst/>
                          <a:latin typeface="+mn-lt"/>
                        </a:rPr>
                        <a:t>(Very basic)</a:t>
                      </a:r>
                    </a:p>
                  </a:txBody>
                  <a:tcPr marL="118989" marR="89241" marT="74368" marB="74368" anchor="ctr">
                    <a:solidFill>
                      <a:schemeClr val="bg1"/>
                    </a:solidFill>
                  </a:tcPr>
                </a:tc>
                <a:extLst>
                  <a:ext uri="{0D108BD9-81ED-4DB2-BD59-A6C34878D82A}">
                    <a16:rowId xmlns:a16="http://schemas.microsoft.com/office/drawing/2014/main" val="4077218819"/>
                  </a:ext>
                </a:extLst>
              </a:tr>
              <a:tr h="829840">
                <a:tc>
                  <a:txBody>
                    <a:bodyPr/>
                    <a:lstStyle/>
                    <a:p>
                      <a:pPr algn="l">
                        <a:lnSpc>
                          <a:spcPts val="1875"/>
                        </a:lnSpc>
                        <a:buNone/>
                      </a:pPr>
                      <a:r>
                        <a:rPr lang="en-US" sz="1600" b="1">
                          <a:effectLst/>
                          <a:latin typeface="+mn-lt"/>
                        </a:rPr>
                        <a:t>GitHub Pages</a:t>
                      </a:r>
                      <a:endParaRPr lang="en-US" sz="1600" b="0">
                        <a:effectLst/>
                        <a:latin typeface="+mn-lt"/>
                      </a:endParaRPr>
                    </a:p>
                  </a:txBody>
                  <a:tcPr marL="89241"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r>
                        <a:rPr lang="ru-RU" sz="1600" b="0" dirty="0">
                          <a:ln>
                            <a:noFill/>
                          </a:ln>
                          <a:effectLst/>
                          <a:latin typeface="+mn-lt"/>
                        </a:rPr>
                        <a:t> </a:t>
                      </a:r>
                    </a:p>
                    <a:p>
                      <a:pPr algn="ctr">
                        <a:lnSpc>
                          <a:spcPts val="1875"/>
                        </a:lnSpc>
                        <a:buNone/>
                      </a:pPr>
                      <a:r>
                        <a:rPr lang="ru-RU" sz="1600" b="0" dirty="0">
                          <a:ln>
                            <a:noFill/>
                          </a:ln>
                          <a:effectLst/>
                          <a:latin typeface="+mn-lt"/>
                        </a:rPr>
                        <a:t>(</a:t>
                      </a:r>
                      <a:r>
                        <a:rPr lang="en-US" sz="1600" b="0" dirty="0">
                          <a:ln>
                            <a:noFill/>
                          </a:ln>
                          <a:effectLst/>
                          <a:latin typeface="+mn-lt"/>
                        </a:rPr>
                        <a:t>Code</a:t>
                      </a:r>
                      <a:r>
                        <a:rPr lang="ru-RU" sz="1600" b="0" dirty="0">
                          <a:ln>
                            <a:noFill/>
                          </a:ln>
                          <a:effectLst/>
                          <a:latin typeface="+mn-lt"/>
                        </a:rPr>
                        <a:t>-</a:t>
                      </a:r>
                      <a:r>
                        <a:rPr lang="en-US" sz="1600" b="0" dirty="0">
                          <a:ln>
                            <a:noFill/>
                          </a:ln>
                          <a:effectLst/>
                          <a:latin typeface="+mn-lt"/>
                        </a:rPr>
                        <a:t>focused)</a:t>
                      </a: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118989" marT="74368" marB="74368" anchor="ctr">
                    <a:solidFill>
                      <a:schemeClr val="bg1"/>
                    </a:solidFill>
                  </a:tcP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txBody>
                  <a:tcPr marL="118989" marR="89241" marT="74368" marB="74368" anchor="ctr">
                    <a:solidFill>
                      <a:schemeClr val="bg1"/>
                    </a:solidFill>
                  </a:tcPr>
                </a:tc>
                <a:extLst>
                  <a:ext uri="{0D108BD9-81ED-4DB2-BD59-A6C34878D82A}">
                    <a16:rowId xmlns:a16="http://schemas.microsoft.com/office/drawing/2014/main" val="2645914082"/>
                  </a:ext>
                </a:extLst>
              </a:tr>
              <a:tr h="829840">
                <a:tc>
                  <a:txBody>
                    <a:bodyPr/>
                    <a:lstStyle/>
                    <a:p>
                      <a:pPr algn="l">
                        <a:lnSpc>
                          <a:spcPts val="1875"/>
                        </a:lnSpc>
                        <a:buNone/>
                      </a:pPr>
                      <a:r>
                        <a:rPr lang="en-US" sz="1600" b="1" dirty="0">
                          <a:effectLst/>
                          <a:latin typeface="+mn-lt"/>
                        </a:rPr>
                        <a:t>My Project</a:t>
                      </a:r>
                      <a:r>
                        <a:rPr lang="ru-RU" sz="1600" b="1" dirty="0">
                          <a:effectLst/>
                          <a:latin typeface="+mn-lt"/>
                        </a:rPr>
                        <a:t> </a:t>
                      </a:r>
                      <a:r>
                        <a:rPr lang="en-US" sz="1600" b="1" dirty="0" err="1">
                          <a:effectLst/>
                          <a:latin typeface="+mn-lt"/>
                        </a:rPr>
                        <a:t>PortfolioPro</a:t>
                      </a:r>
                      <a:endParaRPr lang="en-US" sz="1600" b="0" dirty="0">
                        <a:effectLst/>
                        <a:latin typeface="+mn-lt"/>
                      </a:endParaRPr>
                    </a:p>
                  </a:txBody>
                  <a:tcPr marL="89241" marR="118989" marT="74368" marB="74368" anchor="ctr"/>
                </a:tc>
                <a:tc>
                  <a:txBody>
                    <a:bodyPr/>
                    <a:lstStyle/>
                    <a:p>
                      <a:pPr algn="ctr">
                        <a:lnSpc>
                          <a:spcPts val="1875"/>
                        </a:lnSpc>
                        <a:buNone/>
                      </a:pPr>
                      <a:r>
                        <a:rPr lang="ru-RU" sz="1600" b="0" dirty="0">
                          <a:ln>
                            <a:noFill/>
                          </a:ln>
                          <a:solidFill>
                            <a:schemeClr val="tx1"/>
                          </a:solidFill>
                          <a:effectLst/>
                          <a:latin typeface="+mn-lt"/>
                        </a:rPr>
                        <a:t>✓</a:t>
                      </a:r>
                      <a:br>
                        <a:rPr lang="ru-RU" sz="1600" b="0" dirty="0">
                          <a:ln>
                            <a:noFill/>
                          </a:ln>
                          <a:solidFill>
                            <a:schemeClr val="tx1"/>
                          </a:solidFill>
                          <a:effectLst/>
                          <a:latin typeface="+mn-lt"/>
                        </a:rPr>
                      </a:br>
                      <a:r>
                        <a:rPr lang="ru-RU" sz="1600" b="0" dirty="0">
                          <a:ln>
                            <a:noFill/>
                          </a:ln>
                          <a:effectLst/>
                          <a:latin typeface="+mn-lt"/>
                        </a:rPr>
                        <a:t> (</a:t>
                      </a:r>
                      <a:r>
                        <a:rPr lang="en-US" sz="1600" b="0" dirty="0">
                          <a:ln>
                            <a:noFill/>
                          </a:ln>
                          <a:effectLst/>
                          <a:latin typeface="+mn-lt"/>
                        </a:rPr>
                        <a:t>Charts, graphs)</a:t>
                      </a:r>
                    </a:p>
                  </a:txBody>
                  <a:tcPr marL="118989" marR="118989" marT="74368" marB="74368" anchor="ctr"/>
                </a:tc>
                <a:tc>
                  <a:txBody>
                    <a:bodyPr/>
                    <a:lstStyle/>
                    <a:p>
                      <a:pPr algn="ctr">
                        <a:lnSpc>
                          <a:spcPts val="1875"/>
                        </a:lnSpc>
                        <a:buNone/>
                      </a:pPr>
                      <a:r>
                        <a:rPr lang="ru-RU" sz="1600" b="0" dirty="0">
                          <a:ln>
                            <a:noFill/>
                          </a:ln>
                          <a:solidFill>
                            <a:schemeClr val="tx1"/>
                          </a:solidFill>
                          <a:effectLst/>
                          <a:latin typeface="+mn-lt"/>
                        </a:rPr>
                        <a:t>✓</a:t>
                      </a:r>
                      <a:r>
                        <a:rPr lang="ru-RU" sz="1600" b="0" dirty="0">
                          <a:ln>
                            <a:noFill/>
                          </a:ln>
                          <a:effectLst/>
                          <a:latin typeface="+mn-lt"/>
                        </a:rPr>
                        <a:t> </a:t>
                      </a:r>
                    </a:p>
                    <a:p>
                      <a:pPr algn="ctr">
                        <a:lnSpc>
                          <a:spcPts val="1875"/>
                        </a:lnSpc>
                        <a:buNone/>
                      </a:pPr>
                      <a:r>
                        <a:rPr lang="ru-RU" sz="1600" b="0" dirty="0">
                          <a:ln>
                            <a:noFill/>
                          </a:ln>
                          <a:effectLst/>
                          <a:latin typeface="+mn-lt"/>
                        </a:rPr>
                        <a:t>(</a:t>
                      </a:r>
                      <a:r>
                        <a:rPr lang="en-US" sz="1600" b="0" dirty="0">
                          <a:ln>
                            <a:noFill/>
                          </a:ln>
                          <a:effectLst/>
                          <a:latin typeface="+mn-lt"/>
                        </a:rPr>
                        <a:t>Full media support)</a:t>
                      </a:r>
                    </a:p>
                  </a:txBody>
                  <a:tcPr marL="118989" marR="118989" marT="74368" marB="74368" anchor="ctr"/>
                </a:tc>
                <a:tc>
                  <a:txBody>
                    <a:bodyPr/>
                    <a:lstStyle/>
                    <a:p>
                      <a:pPr algn="ctr">
                        <a:lnSpc>
                          <a:spcPts val="1875"/>
                        </a:lnSpc>
                        <a:buNone/>
                      </a:pPr>
                      <a:r>
                        <a:rPr lang="ru-RU" sz="1600" b="0" dirty="0">
                          <a:ln>
                            <a:noFill/>
                          </a:ln>
                          <a:solidFill>
                            <a:schemeClr val="tx1"/>
                          </a:solidFill>
                          <a:effectLst/>
                          <a:latin typeface="+mn-lt"/>
                        </a:rPr>
                        <a:t>✓</a:t>
                      </a:r>
                      <a:endParaRPr lang="ru-RU" sz="1600" b="0" dirty="0">
                        <a:ln>
                          <a:noFill/>
                        </a:ln>
                        <a:effectLst/>
                        <a:latin typeface="+mn-lt"/>
                      </a:endParaRPr>
                    </a:p>
                    <a:p>
                      <a:pPr algn="ctr">
                        <a:lnSpc>
                          <a:spcPts val="1875"/>
                        </a:lnSpc>
                        <a:buNone/>
                      </a:pPr>
                      <a:r>
                        <a:rPr lang="ru-RU" sz="1600" b="0" dirty="0">
                          <a:ln>
                            <a:noFill/>
                          </a:ln>
                          <a:effectLst/>
                          <a:latin typeface="+mn-lt"/>
                        </a:rPr>
                        <a:t>(</a:t>
                      </a:r>
                      <a:r>
                        <a:rPr lang="en-US" sz="1600" b="0" dirty="0">
                          <a:ln>
                            <a:noFill/>
                          </a:ln>
                          <a:effectLst/>
                          <a:latin typeface="+mn-lt"/>
                        </a:rPr>
                        <a:t>Fully customizable)</a:t>
                      </a:r>
                    </a:p>
                  </a:txBody>
                  <a:tcPr marL="118989" marR="118989" marT="74368" marB="74368" anchor="ctr"/>
                </a:tc>
                <a:tc>
                  <a:txBody>
                    <a:bodyPr/>
                    <a:lstStyle/>
                    <a:p>
                      <a:pPr algn="ctr">
                        <a:lnSpc>
                          <a:spcPts val="1875"/>
                        </a:lnSpc>
                        <a:buNone/>
                      </a:pPr>
                      <a:r>
                        <a:rPr lang="ru-RU" sz="1600" b="0" dirty="0">
                          <a:ln>
                            <a:noFill/>
                          </a:ln>
                          <a:solidFill>
                            <a:schemeClr val="tx1"/>
                          </a:solidFill>
                          <a:effectLst/>
                          <a:latin typeface="+mn-lt"/>
                        </a:rPr>
                        <a:t>✓</a:t>
                      </a:r>
                      <a:r>
                        <a:rPr lang="ru-RU" sz="1600" b="0" dirty="0">
                          <a:ln>
                            <a:noFill/>
                          </a:ln>
                          <a:effectLst/>
                          <a:latin typeface="+mn-lt"/>
                        </a:rPr>
                        <a:t> </a:t>
                      </a:r>
                    </a:p>
                    <a:p>
                      <a:pPr algn="ctr">
                        <a:lnSpc>
                          <a:spcPts val="1875"/>
                        </a:lnSpc>
                        <a:buNone/>
                      </a:pPr>
                      <a:r>
                        <a:rPr lang="ru-RU" sz="1600" b="0" dirty="0">
                          <a:ln>
                            <a:noFill/>
                          </a:ln>
                          <a:effectLst/>
                          <a:latin typeface="+mn-lt"/>
                        </a:rPr>
                        <a:t>(</a:t>
                      </a:r>
                      <a:r>
                        <a:rPr lang="en-US" sz="1600" b="0" dirty="0">
                          <a:ln>
                            <a:noFill/>
                          </a:ln>
                          <a:effectLst/>
                          <a:latin typeface="+mn-lt"/>
                        </a:rPr>
                        <a:t>Smart, styled)</a:t>
                      </a:r>
                    </a:p>
                  </a:txBody>
                  <a:tcPr marL="118989" marR="118989" marT="74368" marB="74368" anchor="ctr"/>
                </a:tc>
                <a:tc>
                  <a:txBody>
                    <a:bodyPr/>
                    <a:lstStyle/>
                    <a:p>
                      <a:pPr algn="ctr">
                        <a:lnSpc>
                          <a:spcPts val="1875"/>
                        </a:lnSpc>
                        <a:buNone/>
                      </a:pPr>
                      <a:r>
                        <a:rPr lang="ru-RU" sz="1600" b="0" dirty="0">
                          <a:ln>
                            <a:noFill/>
                          </a:ln>
                          <a:solidFill>
                            <a:schemeClr val="tx1"/>
                          </a:solidFill>
                          <a:effectLst/>
                          <a:latin typeface="+mn-lt"/>
                        </a:rPr>
                        <a:t>✓</a:t>
                      </a:r>
                      <a:r>
                        <a:rPr lang="ru-RU" sz="1600" b="0" dirty="0">
                          <a:ln>
                            <a:noFill/>
                          </a:ln>
                          <a:effectLst/>
                          <a:latin typeface="+mn-lt"/>
                        </a:rPr>
                        <a:t> </a:t>
                      </a:r>
                    </a:p>
                    <a:p>
                      <a:pPr algn="ctr">
                        <a:lnSpc>
                          <a:spcPts val="1875"/>
                        </a:lnSpc>
                        <a:buNone/>
                      </a:pPr>
                      <a:r>
                        <a:rPr lang="ru-RU" sz="1600" b="0" dirty="0">
                          <a:ln>
                            <a:noFill/>
                          </a:ln>
                          <a:effectLst/>
                          <a:latin typeface="+mn-lt"/>
                        </a:rPr>
                        <a:t>(</a:t>
                      </a:r>
                      <a:r>
                        <a:rPr lang="en-US" sz="1600" b="0" dirty="0">
                          <a:ln>
                            <a:noFill/>
                          </a:ln>
                          <a:effectLst/>
                          <a:latin typeface="+mn-lt"/>
                        </a:rPr>
                        <a:t>With privacy control)</a:t>
                      </a:r>
                    </a:p>
                  </a:txBody>
                  <a:tcPr marL="118989" marR="118989" marT="74368" marB="74368" anchor="ctr"/>
                </a:tc>
                <a:tc>
                  <a:txBody>
                    <a:bodyPr/>
                    <a:lstStyle/>
                    <a:p>
                      <a:pPr algn="ctr">
                        <a:lnSpc>
                          <a:spcPts val="1875"/>
                        </a:lnSpc>
                        <a:buNone/>
                      </a:pPr>
                      <a:r>
                        <a:rPr lang="ru-RU" sz="1600" b="0" dirty="0">
                          <a:ln>
                            <a:noFill/>
                          </a:ln>
                          <a:solidFill>
                            <a:schemeClr val="tx1"/>
                          </a:solidFill>
                          <a:effectLst/>
                          <a:latin typeface="+mn-lt"/>
                        </a:rPr>
                        <a:t>✓</a:t>
                      </a:r>
                      <a:r>
                        <a:rPr lang="ru-RU" sz="1600" b="0" dirty="0">
                          <a:ln>
                            <a:noFill/>
                          </a:ln>
                          <a:effectLst/>
                          <a:latin typeface="+mn-lt"/>
                        </a:rPr>
                        <a:t> </a:t>
                      </a:r>
                    </a:p>
                    <a:p>
                      <a:pPr algn="ctr">
                        <a:lnSpc>
                          <a:spcPts val="1875"/>
                        </a:lnSpc>
                        <a:buNone/>
                      </a:pPr>
                      <a:r>
                        <a:rPr lang="ru-RU" sz="1600" b="0" dirty="0">
                          <a:ln>
                            <a:noFill/>
                          </a:ln>
                          <a:effectLst/>
                          <a:latin typeface="+mn-lt"/>
                        </a:rPr>
                        <a:t>(</a:t>
                      </a:r>
                      <a:r>
                        <a:rPr lang="en-US" sz="1600" b="0" dirty="0">
                          <a:ln>
                            <a:noFill/>
                          </a:ln>
                          <a:effectLst/>
                          <a:latin typeface="+mn-lt"/>
                        </a:rPr>
                        <a:t>Core innovation)</a:t>
                      </a:r>
                    </a:p>
                  </a:txBody>
                  <a:tcPr marL="118989" marR="89241" marT="74368" marB="74368" anchor="ctr"/>
                </a:tc>
                <a:extLst>
                  <a:ext uri="{0D108BD9-81ED-4DB2-BD59-A6C34878D82A}">
                    <a16:rowId xmlns:a16="http://schemas.microsoft.com/office/drawing/2014/main" val="2542896679"/>
                  </a:ext>
                </a:extLst>
              </a:tr>
            </a:tbl>
          </a:graphicData>
        </a:graphic>
      </p:graphicFrame>
      <p:sp>
        <p:nvSpPr>
          <p:cNvPr id="6" name="Номер слайда 5">
            <a:extLst>
              <a:ext uri="{FF2B5EF4-FFF2-40B4-BE49-F238E27FC236}">
                <a16:creationId xmlns:a16="http://schemas.microsoft.com/office/drawing/2014/main" id="{5116FAF0-6458-51EC-6453-068D796FA1A5}"/>
              </a:ext>
            </a:extLst>
          </p:cNvPr>
          <p:cNvSpPr>
            <a:spLocks noGrp="1"/>
          </p:cNvSpPr>
          <p:nvPr>
            <p:ph type="sldNum" sz="quarter" idx="12"/>
          </p:nvPr>
        </p:nvSpPr>
        <p:spPr>
          <a:xfrm>
            <a:off x="9448800" y="0"/>
            <a:ext cx="2743200" cy="365125"/>
          </a:xfrm>
        </p:spPr>
        <p:txBody>
          <a:bodyPr/>
          <a:lstStyle/>
          <a:p>
            <a:fld id="{AB872730-9A74-4497-B7D6-02B393744B30}" type="slidenum">
              <a:rPr lang="ru-RU" smtClean="0"/>
              <a:t>4</a:t>
            </a:fld>
            <a:r>
              <a:rPr lang="ru-RU" dirty="0"/>
              <a:t>  / 15</a:t>
            </a:r>
          </a:p>
        </p:txBody>
      </p:sp>
      <p:sp>
        <p:nvSpPr>
          <p:cNvPr id="9" name="Заголовок 1">
            <a:extLst>
              <a:ext uri="{FF2B5EF4-FFF2-40B4-BE49-F238E27FC236}">
                <a16:creationId xmlns:a16="http://schemas.microsoft.com/office/drawing/2014/main" id="{7C8CCFB4-6D2F-09AB-1E63-F77C46B235E6}"/>
              </a:ext>
            </a:extLst>
          </p:cNvPr>
          <p:cNvSpPr>
            <a:spLocks noGrp="1"/>
          </p:cNvSpPr>
          <p:nvPr>
            <p:ph type="title"/>
          </p:nvPr>
        </p:nvSpPr>
        <p:spPr>
          <a:xfrm>
            <a:off x="838200" y="365125"/>
            <a:ext cx="10515600" cy="1325563"/>
          </a:xfrm>
        </p:spPr>
        <p:txBody>
          <a:bodyPr/>
          <a:lstStyle/>
          <a:p>
            <a:r>
              <a:rPr lang="en-US" b="1" dirty="0"/>
              <a:t>Comparison of Existing Solutions</a:t>
            </a:r>
            <a:endParaRPr lang="ru-RU" dirty="0">
              <a:cs typeface="Segoe UI Semibold" panose="020B0702040204020203" pitchFamily="34" charset="0"/>
            </a:endParaRPr>
          </a:p>
        </p:txBody>
      </p:sp>
    </p:spTree>
    <p:extLst>
      <p:ext uri="{BB962C8B-B14F-4D97-AF65-F5344CB8AC3E}">
        <p14:creationId xmlns:p14="http://schemas.microsoft.com/office/powerpoint/2010/main" val="2251441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головоломка кусочки значок">
            <a:extLst>
              <a:ext uri="{FF2B5EF4-FFF2-40B4-BE49-F238E27FC236}">
                <a16:creationId xmlns:a16="http://schemas.microsoft.com/office/drawing/2014/main" id="{3D0A1D51-EC18-9F89-2AC4-F117450E198D}"/>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8931056" y="-345237"/>
            <a:ext cx="3160735" cy="3160735"/>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Заголовок 1">
            <a:extLst>
              <a:ext uri="{FF2B5EF4-FFF2-40B4-BE49-F238E27FC236}">
                <a16:creationId xmlns:a16="http://schemas.microsoft.com/office/drawing/2014/main" id="{81430B85-44E9-8492-5DE2-268CC72B0AE6}"/>
              </a:ext>
            </a:extLst>
          </p:cNvPr>
          <p:cNvSpPr>
            <a:spLocks noGrp="1"/>
          </p:cNvSpPr>
          <p:nvPr>
            <p:ph type="title"/>
          </p:nvPr>
        </p:nvSpPr>
        <p:spPr/>
        <p:txBody>
          <a:bodyPr/>
          <a:lstStyle/>
          <a:p>
            <a:r>
              <a:rPr lang="en-US" b="1" dirty="0">
                <a:cs typeface="Segoe UI Semibold" panose="020B0702040204020203" pitchFamily="34" charset="0"/>
              </a:rPr>
              <a:t>An All-in-One Interactive Portfolio</a:t>
            </a:r>
            <a:endParaRPr lang="ru-RU" dirty="0">
              <a:cs typeface="Segoe UI Semibold" panose="020B0702040204020203" pitchFamily="34" charset="0"/>
            </a:endParaRPr>
          </a:p>
        </p:txBody>
      </p:sp>
      <p:sp>
        <p:nvSpPr>
          <p:cNvPr id="3" name="Объект 2">
            <a:extLst>
              <a:ext uri="{FF2B5EF4-FFF2-40B4-BE49-F238E27FC236}">
                <a16:creationId xmlns:a16="http://schemas.microsoft.com/office/drawing/2014/main" id="{2A4DF43F-F15F-670E-FB15-3D7C6C9D24EB}"/>
              </a:ext>
            </a:extLst>
          </p:cNvPr>
          <p:cNvSpPr>
            <a:spLocks noGrp="1"/>
          </p:cNvSpPr>
          <p:nvPr>
            <p:ph idx="1"/>
          </p:nvPr>
        </p:nvSpPr>
        <p:spPr/>
        <p:txBody>
          <a:bodyPr>
            <a:normAutofit/>
            <a:scene3d>
              <a:camera prst="orthographicFront"/>
              <a:lightRig rig="threePt" dir="t"/>
            </a:scene3d>
            <a:sp3d extrusionH="57150">
              <a:extrusionClr>
                <a:schemeClr val="tx1"/>
              </a:extrusionClr>
            </a:sp3d>
          </a:bodyPr>
          <a:lstStyle/>
          <a:p>
            <a:pPr marL="0" indent="0">
              <a:buNone/>
            </a:pPr>
            <a:r>
              <a:rPr lang="en-US" sz="3200" b="1" dirty="0">
                <a:latin typeface="+mj-lt"/>
              </a:rPr>
              <a:t> </a:t>
            </a:r>
            <a:r>
              <a:rPr lang="en-US" sz="3200" dirty="0">
                <a:latin typeface="+mj-lt"/>
              </a:rPr>
              <a:t>Key Features </a:t>
            </a:r>
          </a:p>
          <a:p>
            <a:pPr>
              <a:lnSpc>
                <a:spcPct val="100000"/>
              </a:lnSpc>
            </a:pPr>
            <a:r>
              <a:rPr lang="en-US" sz="3200" b="1" dirty="0">
                <a:latin typeface="+mj-lt"/>
              </a:rPr>
              <a:t>Interactive Constructor</a:t>
            </a:r>
            <a:r>
              <a:rPr lang="en-US" sz="3200" dirty="0">
                <a:latin typeface="+mj-lt"/>
              </a:rPr>
              <a:t> – drag &amp; drop + visual skill charts</a:t>
            </a:r>
          </a:p>
          <a:p>
            <a:pPr>
              <a:lnSpc>
                <a:spcPct val="100000"/>
              </a:lnSpc>
            </a:pPr>
            <a:r>
              <a:rPr lang="en-US" sz="3200" b="1" dirty="0">
                <a:latin typeface="+mj-lt"/>
              </a:rPr>
              <a:t>Smart PDF Export</a:t>
            </a:r>
            <a:r>
              <a:rPr lang="en-US" sz="3200" dirty="0">
                <a:latin typeface="+mj-lt"/>
              </a:rPr>
              <a:t> – one-click polished resume</a:t>
            </a:r>
          </a:p>
          <a:p>
            <a:pPr>
              <a:lnSpc>
                <a:spcPct val="100000"/>
              </a:lnSpc>
            </a:pPr>
            <a:r>
              <a:rPr lang="en-US" sz="3200" b="1" dirty="0">
                <a:latin typeface="+mj-lt"/>
              </a:rPr>
              <a:t>Public Profile</a:t>
            </a:r>
            <a:r>
              <a:rPr lang="en-US" sz="3200" dirty="0">
                <a:latin typeface="+mj-lt"/>
              </a:rPr>
              <a:t> – shareable link, full design control</a:t>
            </a:r>
          </a:p>
          <a:p>
            <a:pPr>
              <a:lnSpc>
                <a:spcPct val="100000"/>
              </a:lnSpc>
            </a:pPr>
            <a:r>
              <a:rPr lang="en-US" sz="3200" b="1" dirty="0">
                <a:latin typeface="+mj-lt"/>
              </a:rPr>
              <a:t>Analytics Module</a:t>
            </a:r>
            <a:r>
              <a:rPr lang="en-US" sz="3200" dirty="0">
                <a:latin typeface="+mj-lt"/>
              </a:rPr>
              <a:t> – data-driven career insights (e.g., "Add React for +65% matches")</a:t>
            </a:r>
            <a:endParaRPr lang="en-US" sz="3200" dirty="0">
              <a:effectLst>
                <a:glow rad="127000">
                  <a:schemeClr val="bg1"/>
                </a:glow>
              </a:effectLst>
              <a:latin typeface="+mj-lt"/>
            </a:endParaRPr>
          </a:p>
        </p:txBody>
      </p:sp>
      <p:sp>
        <p:nvSpPr>
          <p:cNvPr id="6" name="Номер слайда 5">
            <a:extLst>
              <a:ext uri="{FF2B5EF4-FFF2-40B4-BE49-F238E27FC236}">
                <a16:creationId xmlns:a16="http://schemas.microsoft.com/office/drawing/2014/main" id="{53421517-DCC1-9AE6-E300-CAE11BC8388F}"/>
              </a:ext>
            </a:extLst>
          </p:cNvPr>
          <p:cNvSpPr>
            <a:spLocks noGrp="1"/>
          </p:cNvSpPr>
          <p:nvPr>
            <p:ph type="sldNum" sz="quarter" idx="12"/>
          </p:nvPr>
        </p:nvSpPr>
        <p:spPr>
          <a:xfrm>
            <a:off x="9448800" y="0"/>
            <a:ext cx="2743200" cy="365125"/>
          </a:xfrm>
        </p:spPr>
        <p:txBody>
          <a:bodyPr/>
          <a:lstStyle/>
          <a:p>
            <a:fld id="{AB872730-9A74-4497-B7D6-02B393744B30}" type="slidenum">
              <a:rPr lang="ru-RU" smtClean="0"/>
              <a:t>5</a:t>
            </a:fld>
            <a:r>
              <a:rPr lang="ru-RU" dirty="0"/>
              <a:t>  / 15</a:t>
            </a:r>
          </a:p>
        </p:txBody>
      </p:sp>
    </p:spTree>
    <p:extLst>
      <p:ext uri="{BB962C8B-B14F-4D97-AF65-F5344CB8AC3E}">
        <p14:creationId xmlns:p14="http://schemas.microsoft.com/office/powerpoint/2010/main" val="3549770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API-интерфейс значок">
            <a:extLst>
              <a:ext uri="{FF2B5EF4-FFF2-40B4-BE49-F238E27FC236}">
                <a16:creationId xmlns:a16="http://schemas.microsoft.com/office/drawing/2014/main" id="{A0C67DB7-1018-5612-DEAC-DD63F5359E8B}"/>
              </a:ext>
            </a:extLst>
          </p:cNvPr>
          <p:cNvPicPr>
            <a:picLocks noChangeAspect="1" noChangeArrowheads="1"/>
          </p:cNvPicPr>
          <p:nvPr/>
        </p:nvPicPr>
        <p:blipFill>
          <a:blip r:embed="rId3">
            <a:duotone>
              <a:schemeClr val="bg2">
                <a:shade val="45000"/>
                <a:satMod val="135000"/>
              </a:schemeClr>
              <a:prstClr val="white"/>
            </a:duotone>
            <a:alphaModFix amt="70000"/>
            <a:extLst>
              <a:ext uri="{28A0092B-C50C-407E-A947-70E740481C1C}">
                <a14:useLocalDpi xmlns:a14="http://schemas.microsoft.com/office/drawing/2010/main" val="0"/>
              </a:ext>
            </a:extLst>
          </a:blip>
          <a:srcRect/>
          <a:stretch>
            <a:fillRect/>
          </a:stretch>
        </p:blipFill>
        <p:spPr bwMode="auto">
          <a:xfrm>
            <a:off x="8869680" y="2136167"/>
            <a:ext cx="2956560" cy="2956560"/>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a:extLst>
              <a:ext uri="{FF2B5EF4-FFF2-40B4-BE49-F238E27FC236}">
                <a16:creationId xmlns:a16="http://schemas.microsoft.com/office/drawing/2014/main" id="{78695B3F-3DB3-75FD-C38E-AB02DE4F71E1}"/>
              </a:ext>
            </a:extLst>
          </p:cNvPr>
          <p:cNvSpPr>
            <a:spLocks noGrp="1"/>
          </p:cNvSpPr>
          <p:nvPr>
            <p:ph type="title"/>
          </p:nvPr>
        </p:nvSpPr>
        <p:spPr/>
        <p:txBody>
          <a:bodyPr/>
          <a:lstStyle/>
          <a:p>
            <a:r>
              <a:rPr lang="en-US" b="1" dirty="0"/>
              <a:t>Limitations</a:t>
            </a:r>
            <a:endParaRPr lang="ru-RU" b="1" dirty="0"/>
          </a:p>
        </p:txBody>
      </p:sp>
      <p:sp>
        <p:nvSpPr>
          <p:cNvPr id="3" name="Объект 2">
            <a:extLst>
              <a:ext uri="{FF2B5EF4-FFF2-40B4-BE49-F238E27FC236}">
                <a16:creationId xmlns:a16="http://schemas.microsoft.com/office/drawing/2014/main" id="{9B3B2DA3-7671-A791-B2F4-A6B50B7B6022}"/>
              </a:ext>
            </a:extLst>
          </p:cNvPr>
          <p:cNvSpPr>
            <a:spLocks noGrp="1"/>
          </p:cNvSpPr>
          <p:nvPr>
            <p:ph idx="1"/>
          </p:nvPr>
        </p:nvSpPr>
        <p:spPr>
          <a:xfrm>
            <a:off x="838200" y="1825625"/>
            <a:ext cx="7752644" cy="4351338"/>
          </a:xfrm>
        </p:spPr>
        <p:txBody>
          <a:bodyPr>
            <a:normAutofit/>
          </a:bodyPr>
          <a:lstStyle/>
          <a:p>
            <a:r>
              <a:rPr lang="en-US" sz="3200" b="1" dirty="0"/>
              <a:t>Niche audience</a:t>
            </a:r>
            <a:r>
              <a:rPr lang="en-US" sz="3200" dirty="0"/>
              <a:t> – </a:t>
            </a:r>
            <a:r>
              <a:rPr lang="en-US" sz="3200" dirty="0" err="1"/>
              <a:t>devs</a:t>
            </a:r>
            <a:r>
              <a:rPr lang="en-US" sz="3200" dirty="0"/>
              <a:t>, designers</a:t>
            </a:r>
          </a:p>
          <a:p>
            <a:r>
              <a:rPr lang="en-US" sz="3200" b="1" dirty="0"/>
              <a:t>External API</a:t>
            </a:r>
            <a:r>
              <a:rPr lang="en-US" sz="3200" dirty="0"/>
              <a:t> – relies on HH.ru</a:t>
            </a:r>
          </a:p>
          <a:p>
            <a:r>
              <a:rPr lang="en-US" sz="3200" b="1" dirty="0"/>
              <a:t>Self-reported data</a:t>
            </a:r>
            <a:r>
              <a:rPr lang="en-US" sz="3200" dirty="0"/>
              <a:t> – not verified</a:t>
            </a:r>
          </a:p>
        </p:txBody>
      </p:sp>
      <p:pic>
        <p:nvPicPr>
          <p:cNvPr id="2050" name="Picture 2" descr="Picture background">
            <a:extLst>
              <a:ext uri="{FF2B5EF4-FFF2-40B4-BE49-F238E27FC236}">
                <a16:creationId xmlns:a16="http://schemas.microsoft.com/office/drawing/2014/main" id="{E1F10248-BDE5-B9DD-F5AF-92FA0F2E56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9778" y="470275"/>
            <a:ext cx="1871133" cy="187113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icture background">
            <a:extLst>
              <a:ext uri="{FF2B5EF4-FFF2-40B4-BE49-F238E27FC236}">
                <a16:creationId xmlns:a16="http://schemas.microsoft.com/office/drawing/2014/main" id="{DDA20427-E55E-C28D-082F-ACED93A37A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58867" y="4709009"/>
            <a:ext cx="1794933" cy="1794933"/>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API-интерфейс значок">
            <a:extLst>
              <a:ext uri="{FF2B5EF4-FFF2-40B4-BE49-F238E27FC236}">
                <a16:creationId xmlns:a16="http://schemas.microsoft.com/office/drawing/2014/main" id="{411566BB-AD4F-7EA1-6B3B-23B04691F1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89688" y="2209553"/>
            <a:ext cx="2631311" cy="2631311"/>
          </a:xfrm>
          <a:prstGeom prst="rect">
            <a:avLst/>
          </a:prstGeom>
          <a:noFill/>
          <a:extLst>
            <a:ext uri="{909E8E84-426E-40DD-AFC4-6F175D3DCCD1}">
              <a14:hiddenFill xmlns:a14="http://schemas.microsoft.com/office/drawing/2010/main">
                <a:solidFill>
                  <a:srgbClr val="FFFFFF"/>
                </a:solidFill>
              </a14:hiddenFill>
            </a:ext>
          </a:extLst>
        </p:spPr>
      </p:pic>
      <p:sp>
        <p:nvSpPr>
          <p:cNvPr id="6" name="Номер слайда 5">
            <a:extLst>
              <a:ext uri="{FF2B5EF4-FFF2-40B4-BE49-F238E27FC236}">
                <a16:creationId xmlns:a16="http://schemas.microsoft.com/office/drawing/2014/main" id="{F9B71240-40C7-8D55-F247-9A776C115A04}"/>
              </a:ext>
            </a:extLst>
          </p:cNvPr>
          <p:cNvSpPr>
            <a:spLocks noGrp="1"/>
          </p:cNvSpPr>
          <p:nvPr>
            <p:ph type="sldNum" sz="quarter" idx="12"/>
          </p:nvPr>
        </p:nvSpPr>
        <p:spPr>
          <a:xfrm>
            <a:off x="9448800" y="0"/>
            <a:ext cx="2743200" cy="365125"/>
          </a:xfrm>
        </p:spPr>
        <p:txBody>
          <a:bodyPr/>
          <a:lstStyle/>
          <a:p>
            <a:fld id="{AB872730-9A74-4497-B7D6-02B393744B30}" type="slidenum">
              <a:rPr lang="ru-RU" smtClean="0"/>
              <a:t>6</a:t>
            </a:fld>
            <a:r>
              <a:rPr lang="ru-RU" dirty="0"/>
              <a:t>  / 15</a:t>
            </a:r>
          </a:p>
        </p:txBody>
      </p:sp>
    </p:spTree>
    <p:extLst>
      <p:ext uri="{BB962C8B-B14F-4D97-AF65-F5344CB8AC3E}">
        <p14:creationId xmlns:p14="http://schemas.microsoft.com/office/powerpoint/2010/main" val="68636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C42E7-D49C-AD3B-427B-D86B7D17303E}"/>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E46B9CD-9003-08EA-0A6E-1440785B7D6D}"/>
              </a:ext>
            </a:extLst>
          </p:cNvPr>
          <p:cNvSpPr>
            <a:spLocks noGrp="1"/>
          </p:cNvSpPr>
          <p:nvPr>
            <p:ph type="title"/>
          </p:nvPr>
        </p:nvSpPr>
        <p:spPr/>
        <p:txBody>
          <a:bodyPr/>
          <a:lstStyle/>
          <a:p>
            <a:r>
              <a:rPr lang="en-US" b="1" dirty="0"/>
              <a:t>Research Questions</a:t>
            </a:r>
            <a:endParaRPr lang="ru-RU" b="1" dirty="0"/>
          </a:p>
        </p:txBody>
      </p:sp>
      <p:sp>
        <p:nvSpPr>
          <p:cNvPr id="5" name="Номер слайда 4">
            <a:extLst>
              <a:ext uri="{FF2B5EF4-FFF2-40B4-BE49-F238E27FC236}">
                <a16:creationId xmlns:a16="http://schemas.microsoft.com/office/drawing/2014/main" id="{5711AEFB-0C7F-AFD7-B74E-3892B5DCAB91}"/>
              </a:ext>
            </a:extLst>
          </p:cNvPr>
          <p:cNvSpPr>
            <a:spLocks noGrp="1"/>
          </p:cNvSpPr>
          <p:nvPr>
            <p:ph type="sldNum" sz="quarter" idx="12"/>
          </p:nvPr>
        </p:nvSpPr>
        <p:spPr>
          <a:xfrm>
            <a:off x="9448800" y="0"/>
            <a:ext cx="2743200" cy="365125"/>
          </a:xfrm>
        </p:spPr>
        <p:txBody>
          <a:bodyPr/>
          <a:lstStyle/>
          <a:p>
            <a:fld id="{AB872730-9A74-4497-B7D6-02B393744B30}" type="slidenum">
              <a:rPr lang="ru-RU" smtClean="0"/>
              <a:t>7</a:t>
            </a:fld>
            <a:r>
              <a:rPr lang="ru-RU" dirty="0"/>
              <a:t> / 15</a:t>
            </a:r>
          </a:p>
        </p:txBody>
      </p:sp>
      <p:pic>
        <p:nvPicPr>
          <p:cNvPr id="1026" name="Picture 2">
            <a:extLst>
              <a:ext uri="{FF2B5EF4-FFF2-40B4-BE49-F238E27FC236}">
                <a16:creationId xmlns:a16="http://schemas.microsoft.com/office/drawing/2014/main" id="{98921BEA-A9B9-6476-5A61-160F899248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819" y="2279528"/>
            <a:ext cx="11120658" cy="33024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011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8B266-F9AB-D281-CE14-D04DCA23BC51}"/>
            </a:ext>
          </a:extLst>
        </p:cNvPr>
        <p:cNvGrpSpPr/>
        <p:nvPr/>
      </p:nvGrpSpPr>
      <p:grpSpPr>
        <a:xfrm>
          <a:off x="0" y="0"/>
          <a:ext cx="0" cy="0"/>
          <a:chOff x="0" y="0"/>
          <a:chExt cx="0" cy="0"/>
        </a:xfrm>
      </p:grpSpPr>
      <p:pic>
        <p:nvPicPr>
          <p:cNvPr id="6146" name="Picture 2" descr="вопрос знак значок">
            <a:extLst>
              <a:ext uri="{FF2B5EF4-FFF2-40B4-BE49-F238E27FC236}">
                <a16:creationId xmlns:a16="http://schemas.microsoft.com/office/drawing/2014/main" id="{9E4B6E7B-3620-90F3-00F7-6C0536EAA325}"/>
              </a:ext>
            </a:extLst>
          </p:cNvPr>
          <p:cNvPicPr>
            <a:picLocks noChangeAspect="1" noChangeArrowheads="1"/>
          </p:cNvPicPr>
          <p:nvPr/>
        </p:nvPicPr>
        <p:blipFill>
          <a:blip r:embed="rId3">
            <a:lum bright="70000" contrast="-70000"/>
            <a:alphaModFix amt="50000"/>
            <a:extLst>
              <a:ext uri="{BEBA8EAE-BF5A-486C-A8C5-ECC9F3942E4B}">
                <a14:imgProps xmlns:a14="http://schemas.microsoft.com/office/drawing/2010/main">
                  <a14:imgLayer r:embed="rId4">
                    <a14:imgEffect>
                      <a14:colorTemperature colorTemp="15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778187" y="1616075"/>
            <a:ext cx="4876800" cy="4876800"/>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a:extLst>
              <a:ext uri="{FF2B5EF4-FFF2-40B4-BE49-F238E27FC236}">
                <a16:creationId xmlns:a16="http://schemas.microsoft.com/office/drawing/2014/main" id="{F2E3899E-317E-6F5D-0402-9C9ABAEA0432}"/>
              </a:ext>
            </a:extLst>
          </p:cNvPr>
          <p:cNvSpPr>
            <a:spLocks noGrp="1"/>
          </p:cNvSpPr>
          <p:nvPr>
            <p:ph type="title"/>
          </p:nvPr>
        </p:nvSpPr>
        <p:spPr/>
        <p:txBody>
          <a:bodyPr/>
          <a:lstStyle/>
          <a:p>
            <a:r>
              <a:rPr lang="en-US" b="1" dirty="0"/>
              <a:t>Research Questions</a:t>
            </a:r>
            <a:endParaRPr lang="ru-RU" b="1" dirty="0"/>
          </a:p>
        </p:txBody>
      </p:sp>
      <p:sp>
        <p:nvSpPr>
          <p:cNvPr id="3" name="Объект 2">
            <a:extLst>
              <a:ext uri="{FF2B5EF4-FFF2-40B4-BE49-F238E27FC236}">
                <a16:creationId xmlns:a16="http://schemas.microsoft.com/office/drawing/2014/main" id="{046FF812-B362-BFC5-1827-81274D258487}"/>
              </a:ext>
            </a:extLst>
          </p:cNvPr>
          <p:cNvSpPr>
            <a:spLocks noGrp="1"/>
          </p:cNvSpPr>
          <p:nvPr>
            <p:ph idx="1"/>
          </p:nvPr>
        </p:nvSpPr>
        <p:spPr>
          <a:xfrm>
            <a:off x="838200" y="1825625"/>
            <a:ext cx="10515600" cy="4351338"/>
          </a:xfrm>
        </p:spPr>
        <p:txBody>
          <a:bodyPr>
            <a:normAutofit lnSpcReduction="10000"/>
          </a:bodyPr>
          <a:lstStyle/>
          <a:p>
            <a:pPr marL="0" indent="0">
              <a:buNone/>
            </a:pPr>
            <a:r>
              <a:rPr lang="en-US" sz="2400" b="1" dirty="0"/>
              <a:t>RQ1: </a:t>
            </a:r>
            <a:r>
              <a:rPr lang="en-US" sz="2400" dirty="0"/>
              <a:t>How does the design of skill visualization (charts, graphs) in a digital portfolio influence an employer's perception of a candidate?</a:t>
            </a:r>
            <a:endParaRPr lang="ru-RU" sz="2400" dirty="0"/>
          </a:p>
          <a:p>
            <a:pPr marL="0" indent="0">
              <a:buNone/>
            </a:pPr>
            <a:endParaRPr lang="ru-RU" sz="2400" dirty="0"/>
          </a:p>
          <a:p>
            <a:pPr marL="0" indent="0">
              <a:buNone/>
            </a:pPr>
            <a:r>
              <a:rPr lang="en-US" sz="2400" b="1" dirty="0"/>
              <a:t>RQ2: </a:t>
            </a:r>
            <a:r>
              <a:rPr lang="en-US" sz="2400" dirty="0"/>
              <a:t>What design approaches in existing platforms successfully combine user-friendly creation tools with employer-oriented utility</a:t>
            </a:r>
            <a:r>
              <a:rPr lang="ru-RU" sz="2400" dirty="0"/>
              <a:t>?</a:t>
            </a:r>
          </a:p>
          <a:p>
            <a:pPr marL="0" indent="0">
              <a:buNone/>
            </a:pPr>
            <a:endParaRPr lang="en-US" sz="2400" dirty="0"/>
          </a:p>
          <a:p>
            <a:pPr marL="0" indent="0">
              <a:buNone/>
            </a:pPr>
            <a:r>
              <a:rPr lang="en-US" sz="2400" b="1" dirty="0"/>
              <a:t>RQ3: </a:t>
            </a:r>
            <a:r>
              <a:rPr lang="en-US" sz="2400" dirty="0"/>
              <a:t>What methods and approaches are most suitable for developing an all-in-one portfolio tool that combines key features from existing solutions?</a:t>
            </a:r>
            <a:endParaRPr lang="ru-RU" sz="2400" dirty="0"/>
          </a:p>
          <a:p>
            <a:pPr marL="0" indent="0">
              <a:buNone/>
            </a:pPr>
            <a:endParaRPr lang="ru-RU" sz="2400" dirty="0"/>
          </a:p>
          <a:p>
            <a:pPr marL="0" indent="0">
              <a:buNone/>
            </a:pPr>
            <a:r>
              <a:rPr lang="en-US" sz="2400" b="1" dirty="0"/>
              <a:t>RQ</a:t>
            </a:r>
            <a:r>
              <a:rPr lang="ru-RU" sz="2400" b="1" dirty="0"/>
              <a:t>4</a:t>
            </a:r>
            <a:r>
              <a:rPr lang="en-US" sz="2400" b="1" dirty="0"/>
              <a:t>: </a:t>
            </a:r>
            <a:r>
              <a:rPr lang="en-US" sz="2400" dirty="0"/>
              <a:t>What methods and data allow for analysis of a user's skills and provide personalized recommendations for career growth?</a:t>
            </a:r>
            <a:endParaRPr lang="ru-RU" sz="2400" dirty="0"/>
          </a:p>
          <a:p>
            <a:pPr marL="0" indent="0">
              <a:buNone/>
            </a:pPr>
            <a:endParaRPr lang="en-US" sz="2400" dirty="0"/>
          </a:p>
        </p:txBody>
      </p:sp>
      <p:sp>
        <p:nvSpPr>
          <p:cNvPr id="6" name="Номер слайда 5">
            <a:extLst>
              <a:ext uri="{FF2B5EF4-FFF2-40B4-BE49-F238E27FC236}">
                <a16:creationId xmlns:a16="http://schemas.microsoft.com/office/drawing/2014/main" id="{14DC42BD-97DD-17C3-E045-1652F8E86C1A}"/>
              </a:ext>
            </a:extLst>
          </p:cNvPr>
          <p:cNvSpPr>
            <a:spLocks noGrp="1"/>
          </p:cNvSpPr>
          <p:nvPr>
            <p:ph type="sldNum" sz="quarter" idx="12"/>
          </p:nvPr>
        </p:nvSpPr>
        <p:spPr>
          <a:xfrm>
            <a:off x="9448800" y="0"/>
            <a:ext cx="2743200" cy="365125"/>
          </a:xfrm>
        </p:spPr>
        <p:txBody>
          <a:bodyPr/>
          <a:lstStyle/>
          <a:p>
            <a:fld id="{AB872730-9A74-4497-B7D6-02B393744B30}" type="slidenum">
              <a:rPr lang="ru-RU" smtClean="0"/>
              <a:t>8</a:t>
            </a:fld>
            <a:r>
              <a:rPr lang="ru-RU" dirty="0"/>
              <a:t>  / 15</a:t>
            </a:r>
          </a:p>
        </p:txBody>
      </p:sp>
    </p:spTree>
    <p:extLst>
      <p:ext uri="{BB962C8B-B14F-4D97-AF65-F5344CB8AC3E}">
        <p14:creationId xmlns:p14="http://schemas.microsoft.com/office/powerpoint/2010/main" val="1266930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B4BC1-CA60-B10E-A0B9-832D34D9DAE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A33742AA-59F2-38D8-EF5E-8774A78B0761}"/>
              </a:ext>
            </a:extLst>
          </p:cNvPr>
          <p:cNvSpPr>
            <a:spLocks noGrp="1"/>
          </p:cNvSpPr>
          <p:nvPr>
            <p:ph type="title"/>
          </p:nvPr>
        </p:nvSpPr>
        <p:spPr/>
        <p:txBody>
          <a:bodyPr/>
          <a:lstStyle/>
          <a:p>
            <a:r>
              <a:rPr lang="en-US" b="1" dirty="0"/>
              <a:t>RQ1: Visualization &amp; Perception</a:t>
            </a:r>
          </a:p>
        </p:txBody>
      </p:sp>
      <p:sp>
        <p:nvSpPr>
          <p:cNvPr id="3" name="Объект 2">
            <a:extLst>
              <a:ext uri="{FF2B5EF4-FFF2-40B4-BE49-F238E27FC236}">
                <a16:creationId xmlns:a16="http://schemas.microsoft.com/office/drawing/2014/main" id="{F9031BF6-5DF8-879D-8241-D75723C1AA2C}"/>
              </a:ext>
            </a:extLst>
          </p:cNvPr>
          <p:cNvSpPr>
            <a:spLocks noGrp="1"/>
          </p:cNvSpPr>
          <p:nvPr>
            <p:ph idx="1"/>
          </p:nvPr>
        </p:nvSpPr>
        <p:spPr>
          <a:xfrm>
            <a:off x="838200" y="1683733"/>
            <a:ext cx="3921690" cy="3850297"/>
          </a:xfrm>
        </p:spPr>
        <p:txBody>
          <a:bodyPr>
            <a:normAutofit/>
          </a:bodyPr>
          <a:lstStyle/>
          <a:p>
            <a:pPr marL="0" lvl="1" indent="0">
              <a:buNone/>
            </a:pPr>
            <a:r>
              <a:rPr lang="en-US" b="1" dirty="0"/>
              <a:t>Memorability</a:t>
            </a:r>
            <a:endParaRPr lang="ru-RU" b="1" dirty="0"/>
          </a:p>
          <a:p>
            <a:pPr marL="0" lvl="1" indent="0">
              <a:buNone/>
            </a:pPr>
            <a:endParaRPr lang="ru-RU" b="1" dirty="0"/>
          </a:p>
          <a:p>
            <a:pPr marL="0" lvl="1" indent="0">
              <a:buNone/>
            </a:pPr>
            <a:r>
              <a:rPr lang="en-US" sz="2200" dirty="0"/>
              <a:t>Visual embellishments increase memorability of charts.</a:t>
            </a:r>
            <a:r>
              <a:rPr lang="ru-RU" sz="2200" dirty="0"/>
              <a:t> (</a:t>
            </a:r>
            <a:r>
              <a:rPr lang="en-US" sz="2200" dirty="0"/>
              <a:t>Bateman et al.</a:t>
            </a:r>
            <a:r>
              <a:rPr lang="ru-RU" sz="2200" dirty="0"/>
              <a:t>, </a:t>
            </a:r>
            <a:r>
              <a:rPr lang="en-US" sz="2200" dirty="0"/>
              <a:t>2010)</a:t>
            </a:r>
            <a:endParaRPr lang="ru-RU" sz="2200" dirty="0"/>
          </a:p>
          <a:p>
            <a:pPr marL="0" lvl="1" indent="0">
              <a:buNone/>
            </a:pPr>
            <a:endParaRPr lang="ru-RU" sz="2200" dirty="0"/>
          </a:p>
          <a:p>
            <a:pPr marL="0" lvl="1" indent="0">
              <a:buNone/>
            </a:pPr>
            <a:r>
              <a:rPr lang="en-US" sz="2200" dirty="0"/>
              <a:t>Structured self-presentation boosts perceived credibility.</a:t>
            </a:r>
            <a:r>
              <a:rPr lang="ru-RU" sz="2200" dirty="0"/>
              <a:t> (</a:t>
            </a:r>
            <a:r>
              <a:rPr lang="en-US" sz="2200" dirty="0"/>
              <a:t>Toma &amp; Hancock</a:t>
            </a:r>
            <a:r>
              <a:rPr lang="ru-RU" sz="2200" dirty="0"/>
              <a:t>, </a:t>
            </a:r>
            <a:r>
              <a:rPr lang="en-US" sz="2200" dirty="0"/>
              <a:t>2011)</a:t>
            </a:r>
            <a:endParaRPr lang="ru-RU" sz="2200" dirty="0"/>
          </a:p>
        </p:txBody>
      </p:sp>
      <p:pic>
        <p:nvPicPr>
          <p:cNvPr id="5" name="Рисунок 4">
            <a:extLst>
              <a:ext uri="{FF2B5EF4-FFF2-40B4-BE49-F238E27FC236}">
                <a16:creationId xmlns:a16="http://schemas.microsoft.com/office/drawing/2014/main" id="{8314E400-8915-6E97-045F-29D65C752ED6}"/>
              </a:ext>
            </a:extLst>
          </p:cNvPr>
          <p:cNvPicPr>
            <a:picLocks noChangeAspect="1"/>
          </p:cNvPicPr>
          <p:nvPr/>
        </p:nvPicPr>
        <p:blipFill>
          <a:blip r:embed="rId3"/>
          <a:stretch>
            <a:fillRect/>
          </a:stretch>
        </p:blipFill>
        <p:spPr>
          <a:xfrm>
            <a:off x="4859055" y="2371935"/>
            <a:ext cx="2473890" cy="2473890"/>
          </a:xfrm>
          <a:prstGeom prst="rect">
            <a:avLst/>
          </a:prstGeom>
        </p:spPr>
      </p:pic>
      <p:sp>
        <p:nvSpPr>
          <p:cNvPr id="6" name="Объект 2">
            <a:extLst>
              <a:ext uri="{FF2B5EF4-FFF2-40B4-BE49-F238E27FC236}">
                <a16:creationId xmlns:a16="http://schemas.microsoft.com/office/drawing/2014/main" id="{C27032C0-7CB9-FBE0-990F-1685485DBFD5}"/>
              </a:ext>
            </a:extLst>
          </p:cNvPr>
          <p:cNvSpPr txBox="1">
            <a:spLocks/>
          </p:cNvSpPr>
          <p:nvPr/>
        </p:nvSpPr>
        <p:spPr>
          <a:xfrm>
            <a:off x="7720208" y="1683732"/>
            <a:ext cx="3633592" cy="385029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b="1" dirty="0"/>
              <a:t>Accuracy</a:t>
            </a:r>
            <a:endParaRPr lang="ru-RU" b="1" dirty="0"/>
          </a:p>
          <a:p>
            <a:pPr marL="0" lvl="1" indent="0">
              <a:buFont typeface="Arial" panose="020B0604020202020204" pitchFamily="34" charset="0"/>
              <a:buNone/>
            </a:pPr>
            <a:endParaRPr lang="ru-RU" b="1" dirty="0"/>
          </a:p>
          <a:p>
            <a:pPr marL="0" lvl="1" indent="0">
              <a:buNone/>
            </a:pPr>
            <a:r>
              <a:rPr lang="en-US" dirty="0"/>
              <a:t>High memorability does not guarantee correct interpretation; embellishments may distort meaning</a:t>
            </a:r>
            <a:br>
              <a:rPr lang="ru-RU" dirty="0"/>
            </a:br>
            <a:r>
              <a:rPr lang="ru-RU" dirty="0"/>
              <a:t>(</a:t>
            </a:r>
            <a:r>
              <a:rPr lang="en-US" dirty="0"/>
              <a:t>Borkin et al.</a:t>
            </a:r>
            <a:r>
              <a:rPr lang="ru-RU" dirty="0"/>
              <a:t>, </a:t>
            </a:r>
            <a:r>
              <a:rPr lang="en-US" dirty="0"/>
              <a:t>2013)</a:t>
            </a:r>
            <a:endParaRPr lang="ru-RU" dirty="0"/>
          </a:p>
          <a:p>
            <a:pPr marL="0" lvl="1" indent="0">
              <a:buNone/>
            </a:pPr>
            <a:endParaRPr lang="ru-RU" dirty="0"/>
          </a:p>
          <a:p>
            <a:pPr marL="0" lvl="1" indent="0">
              <a:buNone/>
            </a:pPr>
            <a:r>
              <a:rPr lang="en-US" b="1" dirty="0"/>
              <a:t>Risk:</a:t>
            </a:r>
            <a:r>
              <a:rPr lang="en-US" dirty="0"/>
              <a:t> Over-stylized visuals can prioritize aesthetics over accurate communication.</a:t>
            </a:r>
            <a:endParaRPr lang="ru-RU" dirty="0"/>
          </a:p>
        </p:txBody>
      </p:sp>
      <p:sp>
        <p:nvSpPr>
          <p:cNvPr id="7" name="Прямоугольник: скругленные углы 6">
            <a:extLst>
              <a:ext uri="{FF2B5EF4-FFF2-40B4-BE49-F238E27FC236}">
                <a16:creationId xmlns:a16="http://schemas.microsoft.com/office/drawing/2014/main" id="{062D7037-A298-F536-999B-211F0A677105}"/>
              </a:ext>
            </a:extLst>
          </p:cNvPr>
          <p:cNvSpPr/>
          <p:nvPr/>
        </p:nvSpPr>
        <p:spPr>
          <a:xfrm>
            <a:off x="898743" y="5824603"/>
            <a:ext cx="10612676" cy="668272"/>
          </a:xfrm>
          <a:prstGeom prst="roundRect">
            <a:avLst>
              <a:gd name="adj" fmla="val 16667"/>
            </a:avLst>
          </a:prstGeom>
          <a:solidFill>
            <a:schemeClr val="bg2">
              <a:lumMod val="90000"/>
              <a:alpha val="69804"/>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Key Insight </a:t>
            </a:r>
            <a:r>
              <a:rPr lang="ru-RU" b="1" dirty="0">
                <a:solidFill>
                  <a:schemeClr val="tx1"/>
                </a:solidFill>
              </a:rPr>
              <a:t>:</a:t>
            </a:r>
            <a:br>
              <a:rPr lang="ru-RU" dirty="0">
                <a:solidFill>
                  <a:schemeClr val="tx1"/>
                </a:solidFill>
              </a:rPr>
            </a:br>
            <a:r>
              <a:rPr lang="en-US" dirty="0">
                <a:solidFill>
                  <a:schemeClr val="tx1"/>
                </a:solidFill>
              </a:rPr>
              <a:t>Skill visualizations must balance engaging design with clear and interpretable information.</a:t>
            </a:r>
          </a:p>
        </p:txBody>
      </p:sp>
      <p:sp>
        <p:nvSpPr>
          <p:cNvPr id="9" name="Номер слайда 8">
            <a:extLst>
              <a:ext uri="{FF2B5EF4-FFF2-40B4-BE49-F238E27FC236}">
                <a16:creationId xmlns:a16="http://schemas.microsoft.com/office/drawing/2014/main" id="{EE364440-7FCF-1E28-438A-24008B6D1A24}"/>
              </a:ext>
            </a:extLst>
          </p:cNvPr>
          <p:cNvSpPr>
            <a:spLocks noGrp="1"/>
          </p:cNvSpPr>
          <p:nvPr>
            <p:ph type="sldNum" sz="quarter" idx="12"/>
          </p:nvPr>
        </p:nvSpPr>
        <p:spPr>
          <a:xfrm>
            <a:off x="9448800" y="0"/>
            <a:ext cx="2743200" cy="365125"/>
          </a:xfrm>
        </p:spPr>
        <p:txBody>
          <a:bodyPr/>
          <a:lstStyle/>
          <a:p>
            <a:fld id="{AB872730-9A74-4497-B7D6-02B393744B30}" type="slidenum">
              <a:rPr lang="ru-RU" smtClean="0"/>
              <a:t>9</a:t>
            </a:fld>
            <a:r>
              <a:rPr lang="ru-RU" dirty="0"/>
              <a:t>  / 15</a:t>
            </a:r>
          </a:p>
        </p:txBody>
      </p:sp>
    </p:spTree>
    <p:extLst>
      <p:ext uri="{BB962C8B-B14F-4D97-AF65-F5344CB8AC3E}">
        <p14:creationId xmlns:p14="http://schemas.microsoft.com/office/powerpoint/2010/main" val="4135890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7CBB1-6AB0-65E1-D3B4-207D905C995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FAEBA9-547E-0D53-1EAF-45DDEE644200}"/>
              </a:ext>
            </a:extLst>
          </p:cNvPr>
          <p:cNvSpPr>
            <a:spLocks noGrp="1"/>
          </p:cNvSpPr>
          <p:nvPr>
            <p:ph type="title"/>
          </p:nvPr>
        </p:nvSpPr>
        <p:spPr/>
        <p:txBody>
          <a:bodyPr/>
          <a:lstStyle/>
          <a:p>
            <a:r>
              <a:rPr lang="en-US" b="1" dirty="0"/>
              <a:t>RQ2: Dual-Audience Design</a:t>
            </a:r>
          </a:p>
        </p:txBody>
      </p:sp>
      <p:sp>
        <p:nvSpPr>
          <p:cNvPr id="3" name="Объект 2">
            <a:extLst>
              <a:ext uri="{FF2B5EF4-FFF2-40B4-BE49-F238E27FC236}">
                <a16:creationId xmlns:a16="http://schemas.microsoft.com/office/drawing/2014/main" id="{1F58C049-AE1B-8DF1-B5F0-83F42219B968}"/>
              </a:ext>
            </a:extLst>
          </p:cNvPr>
          <p:cNvSpPr>
            <a:spLocks noGrp="1"/>
          </p:cNvSpPr>
          <p:nvPr>
            <p:ph idx="1"/>
          </p:nvPr>
        </p:nvSpPr>
        <p:spPr>
          <a:xfrm>
            <a:off x="838200" y="1683733"/>
            <a:ext cx="3921690" cy="3850297"/>
          </a:xfrm>
        </p:spPr>
        <p:txBody>
          <a:bodyPr>
            <a:normAutofit fontScale="92500" lnSpcReduction="20000"/>
          </a:bodyPr>
          <a:lstStyle/>
          <a:p>
            <a:pPr marL="0" lvl="1" indent="0">
              <a:buNone/>
            </a:pPr>
            <a:r>
              <a:rPr lang="en-US" sz="2600" b="1" dirty="0"/>
              <a:t>Creator Perspective (Usability)</a:t>
            </a:r>
            <a:endParaRPr lang="ru-RU" sz="2600" b="1" dirty="0"/>
          </a:p>
          <a:p>
            <a:pPr marL="0" lvl="1" indent="0">
              <a:buNone/>
            </a:pPr>
            <a:endParaRPr lang="ru-RU" b="1" dirty="0"/>
          </a:p>
          <a:p>
            <a:pPr marL="0" lvl="1" indent="0">
              <a:buNone/>
            </a:pPr>
            <a:r>
              <a:rPr lang="en-US" dirty="0"/>
              <a:t>Usability guidelines show that simple forms reduce errors and increase efficiency.</a:t>
            </a:r>
            <a:br>
              <a:rPr lang="en-US" dirty="0"/>
            </a:br>
            <a:r>
              <a:rPr lang="en-US" dirty="0"/>
              <a:t>(Bargas-Avila et al., 2011)</a:t>
            </a:r>
          </a:p>
          <a:p>
            <a:pPr marL="0" lvl="1" indent="0">
              <a:buNone/>
            </a:pPr>
            <a:endParaRPr lang="en-US" dirty="0"/>
          </a:p>
          <a:p>
            <a:pPr marL="0" lvl="1" indent="0">
              <a:buNone/>
            </a:pPr>
            <a:r>
              <a:rPr lang="en-US" dirty="0"/>
              <a:t>Trust in the platform (transparency and reliability) encourages adoption by both users and employer</a:t>
            </a:r>
            <a:br>
              <a:rPr lang="en-US" dirty="0"/>
            </a:br>
            <a:r>
              <a:rPr lang="en-US" dirty="0"/>
              <a:t>(Gefen et al., 2008)</a:t>
            </a:r>
            <a:endParaRPr lang="ru-RU" dirty="0"/>
          </a:p>
        </p:txBody>
      </p:sp>
      <p:sp>
        <p:nvSpPr>
          <p:cNvPr id="6" name="Объект 2">
            <a:extLst>
              <a:ext uri="{FF2B5EF4-FFF2-40B4-BE49-F238E27FC236}">
                <a16:creationId xmlns:a16="http://schemas.microsoft.com/office/drawing/2014/main" id="{BC0753BD-056B-BB8C-E5BC-CD193797713E}"/>
              </a:ext>
            </a:extLst>
          </p:cNvPr>
          <p:cNvSpPr txBox="1">
            <a:spLocks/>
          </p:cNvSpPr>
          <p:nvPr/>
        </p:nvSpPr>
        <p:spPr>
          <a:xfrm>
            <a:off x="7720207" y="1683407"/>
            <a:ext cx="3633592" cy="29136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b="1" dirty="0"/>
              <a:t>Employer Perspective (Evaluative Depth)</a:t>
            </a:r>
            <a:endParaRPr lang="ru-RU" b="1" dirty="0"/>
          </a:p>
          <a:p>
            <a:pPr marL="0" lvl="1" indent="0">
              <a:buFont typeface="Arial" panose="020B0604020202020204" pitchFamily="34" charset="0"/>
              <a:buNone/>
            </a:pPr>
            <a:endParaRPr lang="ru-RU" b="1" dirty="0"/>
          </a:p>
          <a:p>
            <a:pPr marL="0" lvl="1" indent="0">
              <a:buNone/>
            </a:pPr>
            <a:r>
              <a:rPr lang="en-US" sz="2200" dirty="0"/>
              <a:t>The structure of information affects assessment quality; oversimplification may reduce evaluation depth.</a:t>
            </a:r>
            <a:br>
              <a:rPr lang="en-US" sz="2200" dirty="0"/>
            </a:br>
            <a:r>
              <a:rPr lang="en-US" sz="2200" dirty="0"/>
              <a:t>(Langer et al., 2018)</a:t>
            </a:r>
            <a:endParaRPr lang="ru-RU" sz="2200" dirty="0"/>
          </a:p>
        </p:txBody>
      </p:sp>
      <p:sp>
        <p:nvSpPr>
          <p:cNvPr id="7" name="Прямоугольник: скругленные углы 6">
            <a:extLst>
              <a:ext uri="{FF2B5EF4-FFF2-40B4-BE49-F238E27FC236}">
                <a16:creationId xmlns:a16="http://schemas.microsoft.com/office/drawing/2014/main" id="{00ECDD7F-9FC3-979B-9E78-D13340203D65}"/>
              </a:ext>
            </a:extLst>
          </p:cNvPr>
          <p:cNvSpPr/>
          <p:nvPr/>
        </p:nvSpPr>
        <p:spPr>
          <a:xfrm>
            <a:off x="898743" y="5824603"/>
            <a:ext cx="10612676" cy="668272"/>
          </a:xfrm>
          <a:prstGeom prst="roundRect">
            <a:avLst>
              <a:gd name="adj" fmla="val 16667"/>
            </a:avLst>
          </a:prstGeom>
          <a:solidFill>
            <a:schemeClr val="bg2">
              <a:lumMod val="90000"/>
              <a:alpha val="69804"/>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Key Insight </a:t>
            </a:r>
            <a:r>
              <a:rPr lang="ru-RU" b="1" dirty="0">
                <a:solidFill>
                  <a:schemeClr val="tx1"/>
                </a:solidFill>
              </a:rPr>
              <a:t>:</a:t>
            </a:r>
            <a:br>
              <a:rPr lang="ru-RU" dirty="0">
                <a:solidFill>
                  <a:schemeClr val="tx1"/>
                </a:solidFill>
              </a:rPr>
            </a:br>
            <a:r>
              <a:rPr lang="en-US" dirty="0">
                <a:solidFill>
                  <a:schemeClr val="tx1"/>
                </a:solidFill>
              </a:rPr>
              <a:t>The system must be intuitive for creators while providing structured, trustworthy signals for employers.</a:t>
            </a:r>
          </a:p>
        </p:txBody>
      </p:sp>
      <p:pic>
        <p:nvPicPr>
          <p:cNvPr id="8" name="Рисунок 7">
            <a:extLst>
              <a:ext uri="{FF2B5EF4-FFF2-40B4-BE49-F238E27FC236}">
                <a16:creationId xmlns:a16="http://schemas.microsoft.com/office/drawing/2014/main" id="{39F26F4F-768D-A26D-B98D-C2CBD68399DC}"/>
              </a:ext>
            </a:extLst>
          </p:cNvPr>
          <p:cNvPicPr>
            <a:picLocks noChangeAspect="1"/>
          </p:cNvPicPr>
          <p:nvPr/>
        </p:nvPicPr>
        <p:blipFill>
          <a:blip r:embed="rId3"/>
          <a:stretch>
            <a:fillRect/>
          </a:stretch>
        </p:blipFill>
        <p:spPr>
          <a:xfrm>
            <a:off x="4688346" y="2021346"/>
            <a:ext cx="2815307" cy="2815307"/>
          </a:xfrm>
          <a:prstGeom prst="rect">
            <a:avLst/>
          </a:prstGeom>
        </p:spPr>
      </p:pic>
      <p:sp>
        <p:nvSpPr>
          <p:cNvPr id="9" name="Номер слайда 8">
            <a:extLst>
              <a:ext uri="{FF2B5EF4-FFF2-40B4-BE49-F238E27FC236}">
                <a16:creationId xmlns:a16="http://schemas.microsoft.com/office/drawing/2014/main" id="{C8C65DC5-CAC0-9828-581D-1F75ED5DADB0}"/>
              </a:ext>
            </a:extLst>
          </p:cNvPr>
          <p:cNvSpPr>
            <a:spLocks noGrp="1"/>
          </p:cNvSpPr>
          <p:nvPr>
            <p:ph type="sldNum" sz="quarter" idx="12"/>
          </p:nvPr>
        </p:nvSpPr>
        <p:spPr>
          <a:xfrm>
            <a:off x="9448800" y="11285"/>
            <a:ext cx="2743200" cy="365125"/>
          </a:xfrm>
        </p:spPr>
        <p:txBody>
          <a:bodyPr/>
          <a:lstStyle/>
          <a:p>
            <a:fld id="{AB872730-9A74-4497-B7D6-02B393744B30}" type="slidenum">
              <a:rPr lang="ru-RU" smtClean="0"/>
              <a:t>10</a:t>
            </a:fld>
            <a:r>
              <a:rPr lang="ru-RU" dirty="0"/>
              <a:t> / 15</a:t>
            </a:r>
          </a:p>
        </p:txBody>
      </p:sp>
    </p:spTree>
    <p:extLst>
      <p:ext uri="{BB962C8B-B14F-4D97-AF65-F5344CB8AC3E}">
        <p14:creationId xmlns:p14="http://schemas.microsoft.com/office/powerpoint/2010/main" val="1865633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E77BB-8744-05B9-359A-591B26AE3971}"/>
            </a:ext>
          </a:extLst>
        </p:cNvPr>
        <p:cNvGrpSpPr/>
        <p:nvPr/>
      </p:nvGrpSpPr>
      <p:grpSpPr>
        <a:xfrm>
          <a:off x="0" y="0"/>
          <a:ext cx="0" cy="0"/>
          <a:chOff x="0" y="0"/>
          <a:chExt cx="0" cy="0"/>
        </a:xfrm>
      </p:grpSpPr>
      <p:sp>
        <p:nvSpPr>
          <p:cNvPr id="9" name="Полилиния: фигура 8">
            <a:extLst>
              <a:ext uri="{FF2B5EF4-FFF2-40B4-BE49-F238E27FC236}">
                <a16:creationId xmlns:a16="http://schemas.microsoft.com/office/drawing/2014/main" id="{691DCCFE-7954-DA18-2641-BD36A3B131F7}"/>
              </a:ext>
            </a:extLst>
          </p:cNvPr>
          <p:cNvSpPr/>
          <p:nvPr/>
        </p:nvSpPr>
        <p:spPr>
          <a:xfrm>
            <a:off x="3121068" y="1186901"/>
            <a:ext cx="5632537" cy="4484198"/>
          </a:xfrm>
          <a:custGeom>
            <a:avLst/>
            <a:gdLst>
              <a:gd name="csX0" fmla="*/ 4825126 w 6895053"/>
              <a:gd name="csY0" fmla="*/ 1425723 h 5385651"/>
              <a:gd name="csX1" fmla="*/ 6895053 w 6895053"/>
              <a:gd name="csY1" fmla="*/ 3405687 h 5385651"/>
              <a:gd name="csX2" fmla="*/ 4825126 w 6895053"/>
              <a:gd name="csY2" fmla="*/ 5385651 h 5385651"/>
              <a:gd name="csX3" fmla="*/ 2848259 w 6895053"/>
              <a:gd name="csY3" fmla="*/ 3994468 h 5385651"/>
              <a:gd name="csX4" fmla="*/ 2803900 w 6895053"/>
              <a:gd name="csY4" fmla="*/ 3829448 h 5385651"/>
              <a:gd name="csX5" fmla="*/ 2875636 w 6895053"/>
              <a:gd name="csY5" fmla="*/ 3804333 h 5385651"/>
              <a:gd name="csX6" fmla="*/ 4139854 w 6895053"/>
              <a:gd name="csY6" fmla="*/ 1979964 h 5385651"/>
              <a:gd name="csX7" fmla="*/ 4097801 w 6895053"/>
              <a:gd name="csY7" fmla="*/ 1580932 h 5385651"/>
              <a:gd name="csX8" fmla="*/ 4091153 w 6895053"/>
              <a:gd name="csY8" fmla="*/ 1556204 h 5385651"/>
              <a:gd name="csX9" fmla="*/ 4209593 w 6895053"/>
              <a:gd name="csY9" fmla="*/ 1514738 h 5385651"/>
              <a:gd name="csX10" fmla="*/ 4825126 w 6895053"/>
              <a:gd name="csY10" fmla="*/ 1425723 h 5385651"/>
              <a:gd name="csX11" fmla="*/ 2069927 w 6895053"/>
              <a:gd name="csY11" fmla="*/ 0 h 5385651"/>
              <a:gd name="csX12" fmla="*/ 4046794 w 6895053"/>
              <a:gd name="csY12" fmla="*/ 1391183 h 5385651"/>
              <a:gd name="csX13" fmla="*/ 4091153 w 6895053"/>
              <a:gd name="csY13" fmla="*/ 1556204 h 5385651"/>
              <a:gd name="csX14" fmla="*/ 4019417 w 6895053"/>
              <a:gd name="csY14" fmla="*/ 1581319 h 5385651"/>
              <a:gd name="csX15" fmla="*/ 2755199 w 6895053"/>
              <a:gd name="csY15" fmla="*/ 3405687 h 5385651"/>
              <a:gd name="csX16" fmla="*/ 2797253 w 6895053"/>
              <a:gd name="csY16" fmla="*/ 3804719 h 5385651"/>
              <a:gd name="csX17" fmla="*/ 2803900 w 6895053"/>
              <a:gd name="csY17" fmla="*/ 3829448 h 5385651"/>
              <a:gd name="csX18" fmla="*/ 2685460 w 6895053"/>
              <a:gd name="csY18" fmla="*/ 3870913 h 5385651"/>
              <a:gd name="csX19" fmla="*/ 2069927 w 6895053"/>
              <a:gd name="csY19" fmla="*/ 3959928 h 5385651"/>
              <a:gd name="csX20" fmla="*/ 0 w 6895053"/>
              <a:gd name="csY20" fmla="*/ 1979964 h 5385651"/>
              <a:gd name="csX21" fmla="*/ 2069927 w 6895053"/>
              <a:gd name="csY21" fmla="*/ 0 h 53856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6895053" h="5385651">
                <a:moveTo>
                  <a:pt x="4825126" y="1425723"/>
                </a:moveTo>
                <a:cubicBezTo>
                  <a:pt x="5968315" y="1425723"/>
                  <a:pt x="6895053" y="2312183"/>
                  <a:pt x="6895053" y="3405687"/>
                </a:cubicBezTo>
                <a:cubicBezTo>
                  <a:pt x="6895053" y="4499191"/>
                  <a:pt x="5968315" y="5385651"/>
                  <a:pt x="4825126" y="5385651"/>
                </a:cubicBezTo>
                <a:cubicBezTo>
                  <a:pt x="3896285" y="5385651"/>
                  <a:pt x="3110336" y="4800449"/>
                  <a:pt x="2848259" y="3994468"/>
                </a:cubicBezTo>
                <a:lnTo>
                  <a:pt x="2803900" y="3829448"/>
                </a:lnTo>
                <a:lnTo>
                  <a:pt x="2875636" y="3804333"/>
                </a:lnTo>
                <a:cubicBezTo>
                  <a:pt x="3618564" y="3503758"/>
                  <a:pt x="4139854" y="2800092"/>
                  <a:pt x="4139854" y="1979964"/>
                </a:cubicBezTo>
                <a:cubicBezTo>
                  <a:pt x="4139854" y="1843276"/>
                  <a:pt x="4125374" y="1709823"/>
                  <a:pt x="4097801" y="1580932"/>
                </a:cubicBezTo>
                <a:lnTo>
                  <a:pt x="4091153" y="1556204"/>
                </a:lnTo>
                <a:lnTo>
                  <a:pt x="4209593" y="1514738"/>
                </a:lnTo>
                <a:cubicBezTo>
                  <a:pt x="4404040" y="1456888"/>
                  <a:pt x="4610778" y="1425723"/>
                  <a:pt x="4825126" y="1425723"/>
                </a:cubicBezTo>
                <a:close/>
                <a:moveTo>
                  <a:pt x="2069927" y="0"/>
                </a:moveTo>
                <a:cubicBezTo>
                  <a:pt x="2998768" y="0"/>
                  <a:pt x="3784718" y="585202"/>
                  <a:pt x="4046794" y="1391183"/>
                </a:cubicBezTo>
                <a:lnTo>
                  <a:pt x="4091153" y="1556204"/>
                </a:lnTo>
                <a:lnTo>
                  <a:pt x="4019417" y="1581319"/>
                </a:lnTo>
                <a:cubicBezTo>
                  <a:pt x="3276489" y="1881893"/>
                  <a:pt x="2755199" y="2585559"/>
                  <a:pt x="2755199" y="3405687"/>
                </a:cubicBezTo>
                <a:cubicBezTo>
                  <a:pt x="2755199" y="3542375"/>
                  <a:pt x="2769680" y="3675828"/>
                  <a:pt x="2797253" y="3804719"/>
                </a:cubicBezTo>
                <a:lnTo>
                  <a:pt x="2803900" y="3829448"/>
                </a:lnTo>
                <a:lnTo>
                  <a:pt x="2685460" y="3870913"/>
                </a:lnTo>
                <a:cubicBezTo>
                  <a:pt x="2491014" y="3928764"/>
                  <a:pt x="2284275" y="3959928"/>
                  <a:pt x="2069927" y="3959928"/>
                </a:cubicBezTo>
                <a:cubicBezTo>
                  <a:pt x="926738" y="3959928"/>
                  <a:pt x="0" y="3073468"/>
                  <a:pt x="0" y="1979964"/>
                </a:cubicBezTo>
                <a:cubicBezTo>
                  <a:pt x="0" y="886460"/>
                  <a:pt x="926738" y="0"/>
                  <a:pt x="2069927" y="0"/>
                </a:cubicBezTo>
                <a:close/>
              </a:path>
            </a:pathLst>
          </a:custGeom>
          <a:solidFill>
            <a:schemeClr val="bg1">
              <a:lumMod val="95000"/>
            </a:schemeClr>
          </a:solidFill>
          <a:ln w="3175">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ru-RU" dirty="0"/>
          </a:p>
        </p:txBody>
      </p:sp>
      <p:pic>
        <p:nvPicPr>
          <p:cNvPr id="2050" name="Picture 2" descr="настройки кнопки шестеренки значок">
            <a:extLst>
              <a:ext uri="{FF2B5EF4-FFF2-40B4-BE49-F238E27FC236}">
                <a16:creationId xmlns:a16="http://schemas.microsoft.com/office/drawing/2014/main" id="{81FBE537-623E-ED5D-37D8-5D6A5C14C591}"/>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3879419" y="1762996"/>
            <a:ext cx="1963445" cy="196344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слои значок">
            <a:extLst>
              <a:ext uri="{FF2B5EF4-FFF2-40B4-BE49-F238E27FC236}">
                <a16:creationId xmlns:a16="http://schemas.microsoft.com/office/drawing/2014/main" id="{047AC150-B629-EECA-8B79-EE22A5F32293}"/>
              </a:ext>
            </a:extLst>
          </p:cNvPr>
          <p:cNvPicPr>
            <a:picLocks noChangeAspect="1" noChangeArrowheads="1"/>
          </p:cNvPicPr>
          <p:nvPr/>
        </p:nvPicPr>
        <p:blipFill>
          <a:blip r:embed="rId4">
            <a:lum bright="70000" contrast="-70000"/>
            <a:extLst>
              <a:ext uri="{28A0092B-C50C-407E-A947-70E740481C1C}">
                <a14:useLocalDpi xmlns:a14="http://schemas.microsoft.com/office/drawing/2010/main" val="0"/>
              </a:ext>
            </a:extLst>
          </a:blip>
          <a:srcRect/>
          <a:stretch>
            <a:fillRect/>
          </a:stretch>
        </p:blipFill>
        <p:spPr bwMode="auto">
          <a:xfrm>
            <a:off x="6096000" y="3008970"/>
            <a:ext cx="2093934" cy="2093934"/>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a:extLst>
              <a:ext uri="{FF2B5EF4-FFF2-40B4-BE49-F238E27FC236}">
                <a16:creationId xmlns:a16="http://schemas.microsoft.com/office/drawing/2014/main" id="{16E41441-138B-0673-E1FA-95033F0B7B9A}"/>
              </a:ext>
            </a:extLst>
          </p:cNvPr>
          <p:cNvSpPr>
            <a:spLocks noGrp="1"/>
          </p:cNvSpPr>
          <p:nvPr>
            <p:ph type="title"/>
          </p:nvPr>
        </p:nvSpPr>
        <p:spPr/>
        <p:txBody>
          <a:bodyPr/>
          <a:lstStyle/>
          <a:p>
            <a:r>
              <a:rPr lang="en-US" b="1" dirty="0"/>
              <a:t>RQ3: System Architecture</a:t>
            </a:r>
          </a:p>
        </p:txBody>
      </p:sp>
      <p:sp>
        <p:nvSpPr>
          <p:cNvPr id="3" name="Объект 2">
            <a:extLst>
              <a:ext uri="{FF2B5EF4-FFF2-40B4-BE49-F238E27FC236}">
                <a16:creationId xmlns:a16="http://schemas.microsoft.com/office/drawing/2014/main" id="{A2B58AFA-21E1-50C2-4F95-7DB0B1130D9D}"/>
              </a:ext>
            </a:extLst>
          </p:cNvPr>
          <p:cNvSpPr>
            <a:spLocks noGrp="1"/>
          </p:cNvSpPr>
          <p:nvPr>
            <p:ph idx="1"/>
          </p:nvPr>
        </p:nvSpPr>
        <p:spPr>
          <a:xfrm>
            <a:off x="838200" y="1683733"/>
            <a:ext cx="3921690" cy="3850297"/>
          </a:xfrm>
        </p:spPr>
        <p:txBody>
          <a:bodyPr>
            <a:normAutofit/>
          </a:bodyPr>
          <a:lstStyle/>
          <a:p>
            <a:pPr marL="0" lvl="1" indent="0">
              <a:buNone/>
            </a:pPr>
            <a:r>
              <a:rPr lang="en-US" b="1" dirty="0"/>
              <a:t>Agile Development</a:t>
            </a:r>
          </a:p>
          <a:p>
            <a:pPr marL="0" lvl="1" indent="0">
              <a:buNone/>
            </a:pPr>
            <a:endParaRPr lang="ru-RU" b="1" dirty="0"/>
          </a:p>
          <a:p>
            <a:pPr marL="0" lvl="1" indent="0">
              <a:buNone/>
            </a:pPr>
            <a:r>
              <a:rPr lang="en-US" dirty="0"/>
              <a:t>Agile = flexibility, iterative delivery, adaptability to change.</a:t>
            </a:r>
            <a:br>
              <a:rPr lang="en-US" dirty="0"/>
            </a:br>
            <a:r>
              <a:rPr lang="en-US" dirty="0"/>
              <a:t>(Petersen &amp; </a:t>
            </a:r>
            <a:r>
              <a:rPr lang="en-US" dirty="0" err="1"/>
              <a:t>Wohlin</a:t>
            </a:r>
            <a:r>
              <a:rPr lang="en-US" dirty="0"/>
              <a:t>, 2010)</a:t>
            </a:r>
            <a:endParaRPr lang="ru-RU" dirty="0"/>
          </a:p>
        </p:txBody>
      </p:sp>
      <p:sp>
        <p:nvSpPr>
          <p:cNvPr id="6" name="Объект 2">
            <a:extLst>
              <a:ext uri="{FF2B5EF4-FFF2-40B4-BE49-F238E27FC236}">
                <a16:creationId xmlns:a16="http://schemas.microsoft.com/office/drawing/2014/main" id="{0E5C657D-A328-6498-95A3-7BC912897CAC}"/>
              </a:ext>
            </a:extLst>
          </p:cNvPr>
          <p:cNvSpPr txBox="1">
            <a:spLocks/>
          </p:cNvSpPr>
          <p:nvPr/>
        </p:nvSpPr>
        <p:spPr>
          <a:xfrm>
            <a:off x="7720207" y="1683407"/>
            <a:ext cx="3633592" cy="35399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b="1" dirty="0"/>
              <a:t>Data‑Intensive Architecture</a:t>
            </a:r>
          </a:p>
          <a:p>
            <a:pPr marL="0" lvl="1" indent="0">
              <a:buNone/>
            </a:pPr>
            <a:endParaRPr lang="ru-RU" b="1" dirty="0"/>
          </a:p>
          <a:p>
            <a:pPr marL="0" lvl="1" indent="0">
              <a:buNone/>
            </a:pPr>
            <a:r>
              <a:rPr lang="en-US" dirty="0"/>
              <a:t>Modular, scalable architecture needed for integrating user data + external APIs.</a:t>
            </a:r>
            <a:br>
              <a:rPr lang="en-US" dirty="0"/>
            </a:br>
            <a:r>
              <a:rPr lang="en-US" dirty="0"/>
              <a:t>(Chen et al., 2012)</a:t>
            </a:r>
            <a:endParaRPr lang="ru-RU" dirty="0"/>
          </a:p>
        </p:txBody>
      </p:sp>
      <p:sp>
        <p:nvSpPr>
          <p:cNvPr id="7" name="Прямоугольник: скругленные углы 6">
            <a:extLst>
              <a:ext uri="{FF2B5EF4-FFF2-40B4-BE49-F238E27FC236}">
                <a16:creationId xmlns:a16="http://schemas.microsoft.com/office/drawing/2014/main" id="{2AA882EF-CBAE-C909-58ED-FA9CAC992725}"/>
              </a:ext>
            </a:extLst>
          </p:cNvPr>
          <p:cNvSpPr/>
          <p:nvPr/>
        </p:nvSpPr>
        <p:spPr>
          <a:xfrm>
            <a:off x="898743" y="5824603"/>
            <a:ext cx="10612676" cy="668272"/>
          </a:xfrm>
          <a:prstGeom prst="roundRect">
            <a:avLst>
              <a:gd name="adj" fmla="val 16667"/>
            </a:avLst>
          </a:prstGeom>
          <a:solidFill>
            <a:schemeClr val="bg2">
              <a:lumMod val="90000"/>
              <a:alpha val="69804"/>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Key Insight </a:t>
            </a:r>
            <a:r>
              <a:rPr lang="ru-RU" b="1" dirty="0">
                <a:solidFill>
                  <a:schemeClr val="tx1"/>
                </a:solidFill>
              </a:rPr>
              <a:t>:</a:t>
            </a:r>
            <a:br>
              <a:rPr lang="ru-RU" dirty="0">
                <a:solidFill>
                  <a:schemeClr val="tx1"/>
                </a:solidFill>
              </a:rPr>
            </a:br>
            <a:r>
              <a:rPr lang="en-US" dirty="0">
                <a:solidFill>
                  <a:schemeClr val="tx1"/>
                </a:solidFill>
              </a:rPr>
              <a:t>Combine agile process with solid, modular backend to ensure both flexibility and robustness.</a:t>
            </a:r>
          </a:p>
        </p:txBody>
      </p:sp>
      <p:pic>
        <p:nvPicPr>
          <p:cNvPr id="2056" name="Picture 8" descr="карта точка указатель значок">
            <a:extLst>
              <a:ext uri="{FF2B5EF4-FFF2-40B4-BE49-F238E27FC236}">
                <a16:creationId xmlns:a16="http://schemas.microsoft.com/office/drawing/2014/main" id="{82727433-D1BF-69BD-42D9-0E5ED6FF8A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4363" y="2228020"/>
            <a:ext cx="1408397" cy="1408397"/>
          </a:xfrm>
          <a:prstGeom prst="rect">
            <a:avLst/>
          </a:prstGeom>
          <a:noFill/>
          <a:extLst>
            <a:ext uri="{909E8E84-426E-40DD-AFC4-6F175D3DCCD1}">
              <a14:hiddenFill xmlns:a14="http://schemas.microsoft.com/office/drawing/2010/main">
                <a:solidFill>
                  <a:srgbClr val="FFFFFF"/>
                </a:solidFill>
              </a14:hiddenFill>
            </a:ext>
          </a:extLst>
        </p:spPr>
      </p:pic>
      <p:sp>
        <p:nvSpPr>
          <p:cNvPr id="8" name="Номер слайда 7">
            <a:extLst>
              <a:ext uri="{FF2B5EF4-FFF2-40B4-BE49-F238E27FC236}">
                <a16:creationId xmlns:a16="http://schemas.microsoft.com/office/drawing/2014/main" id="{7FD6B78A-050E-0ADA-0A72-BBB459AAED05}"/>
              </a:ext>
            </a:extLst>
          </p:cNvPr>
          <p:cNvSpPr>
            <a:spLocks noGrp="1"/>
          </p:cNvSpPr>
          <p:nvPr>
            <p:ph type="sldNum" sz="quarter" idx="12"/>
          </p:nvPr>
        </p:nvSpPr>
        <p:spPr>
          <a:xfrm>
            <a:off x="9448800" y="0"/>
            <a:ext cx="2743200" cy="365125"/>
          </a:xfrm>
        </p:spPr>
        <p:txBody>
          <a:bodyPr/>
          <a:lstStyle/>
          <a:p>
            <a:fld id="{AB872730-9A74-4497-B7D6-02B393744B30}" type="slidenum">
              <a:rPr lang="ru-RU" smtClean="0"/>
              <a:t>11</a:t>
            </a:fld>
            <a:r>
              <a:rPr lang="ru-RU" dirty="0"/>
              <a:t> / 15</a:t>
            </a:r>
          </a:p>
        </p:txBody>
      </p:sp>
    </p:spTree>
    <p:extLst>
      <p:ext uri="{BB962C8B-B14F-4D97-AF65-F5344CB8AC3E}">
        <p14:creationId xmlns:p14="http://schemas.microsoft.com/office/powerpoint/2010/main" val="1251543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64793-01E6-9532-B6B5-B8ACB0A70961}"/>
            </a:ext>
          </a:extLst>
        </p:cNvPr>
        <p:cNvGrpSpPr/>
        <p:nvPr/>
      </p:nvGrpSpPr>
      <p:grpSpPr>
        <a:xfrm>
          <a:off x="0" y="0"/>
          <a:ext cx="0" cy="0"/>
          <a:chOff x="0" y="0"/>
          <a:chExt cx="0" cy="0"/>
        </a:xfrm>
      </p:grpSpPr>
      <p:pic>
        <p:nvPicPr>
          <p:cNvPr id="3074" name="Picture 2" descr="право стрелка значок">
            <a:extLst>
              <a:ext uri="{FF2B5EF4-FFF2-40B4-BE49-F238E27FC236}">
                <a16:creationId xmlns:a16="http://schemas.microsoft.com/office/drawing/2014/main" id="{E358134B-ACE4-50C6-8CAF-22D70812C4AD}"/>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4022163" y="1683406"/>
            <a:ext cx="3788812" cy="3788812"/>
          </a:xfrm>
          <a:prstGeom prst="rect">
            <a:avLst/>
          </a:prstGeom>
          <a:noFill/>
          <a:extLst>
            <a:ext uri="{909E8E84-426E-40DD-AFC4-6F175D3DCCD1}">
              <a14:hiddenFill xmlns:a14="http://schemas.microsoft.com/office/drawing/2010/main">
                <a:solidFill>
                  <a:srgbClr val="FFFFFF"/>
                </a:solidFill>
              </a14:hiddenFill>
            </a:ext>
          </a:extLst>
        </p:spPr>
      </p:pic>
      <p:sp>
        <p:nvSpPr>
          <p:cNvPr id="2" name="Заголовок 1">
            <a:extLst>
              <a:ext uri="{FF2B5EF4-FFF2-40B4-BE49-F238E27FC236}">
                <a16:creationId xmlns:a16="http://schemas.microsoft.com/office/drawing/2014/main" id="{BD8F6634-91B9-0F7A-146C-F3E929589667}"/>
              </a:ext>
            </a:extLst>
          </p:cNvPr>
          <p:cNvSpPr>
            <a:spLocks noGrp="1"/>
          </p:cNvSpPr>
          <p:nvPr>
            <p:ph type="title"/>
          </p:nvPr>
        </p:nvSpPr>
        <p:spPr/>
        <p:txBody>
          <a:bodyPr/>
          <a:lstStyle/>
          <a:p>
            <a:r>
              <a:rPr lang="en-US" b="1" dirty="0"/>
              <a:t>RQ4: Predictive Analytics</a:t>
            </a:r>
            <a:endParaRPr lang="ru-RU" b="1" dirty="0"/>
          </a:p>
        </p:txBody>
      </p:sp>
      <p:sp>
        <p:nvSpPr>
          <p:cNvPr id="5" name="Прямоугольник: скругленные углы 4">
            <a:extLst>
              <a:ext uri="{FF2B5EF4-FFF2-40B4-BE49-F238E27FC236}">
                <a16:creationId xmlns:a16="http://schemas.microsoft.com/office/drawing/2014/main" id="{42804D9C-6097-5D79-16C4-F26F7585A728}"/>
              </a:ext>
            </a:extLst>
          </p:cNvPr>
          <p:cNvSpPr/>
          <p:nvPr/>
        </p:nvSpPr>
        <p:spPr>
          <a:xfrm>
            <a:off x="898743" y="5824603"/>
            <a:ext cx="10612676" cy="939452"/>
          </a:xfrm>
          <a:prstGeom prst="roundRect">
            <a:avLst>
              <a:gd name="adj" fmla="val 16667"/>
            </a:avLst>
          </a:prstGeom>
          <a:solidFill>
            <a:schemeClr val="bg2">
              <a:lumMod val="90000"/>
              <a:alpha val="69804"/>
            </a:schemeClr>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solidFill>
              </a:rPr>
              <a:t>Key Insight </a:t>
            </a:r>
            <a:r>
              <a:rPr lang="ru-RU" b="1" dirty="0">
                <a:solidFill>
                  <a:schemeClr val="tx1"/>
                </a:solidFill>
              </a:rPr>
              <a:t>:</a:t>
            </a:r>
            <a:br>
              <a:rPr lang="ru-RU" dirty="0">
                <a:solidFill>
                  <a:schemeClr val="tx1"/>
                </a:solidFill>
              </a:rPr>
            </a:br>
            <a:r>
              <a:rPr lang="en-US" dirty="0">
                <a:solidFill>
                  <a:schemeClr val="tx1"/>
                </a:solidFill>
              </a:rPr>
              <a:t>Analyze vacancy data (HH.ru) to identify high-demand skills and compare them with user profiles to generate targeted recommendations.</a:t>
            </a:r>
          </a:p>
        </p:txBody>
      </p:sp>
      <p:sp>
        <p:nvSpPr>
          <p:cNvPr id="6" name="Объект 2">
            <a:extLst>
              <a:ext uri="{FF2B5EF4-FFF2-40B4-BE49-F238E27FC236}">
                <a16:creationId xmlns:a16="http://schemas.microsoft.com/office/drawing/2014/main" id="{7D891542-87F3-3F24-E7F9-BC6357F4BFBF}"/>
              </a:ext>
            </a:extLst>
          </p:cNvPr>
          <p:cNvSpPr txBox="1">
            <a:spLocks/>
          </p:cNvSpPr>
          <p:nvPr/>
        </p:nvSpPr>
        <p:spPr>
          <a:xfrm>
            <a:off x="838200" y="1683733"/>
            <a:ext cx="3921690" cy="385029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b="1" dirty="0"/>
              <a:t>Descriptive (Static Analysis)</a:t>
            </a:r>
          </a:p>
          <a:p>
            <a:pPr marL="0" lvl="1" indent="0">
              <a:buNone/>
            </a:pPr>
            <a:endParaRPr lang="ru-RU" b="1" dirty="0"/>
          </a:p>
          <a:p>
            <a:pPr marL="0" lvl="1" indent="0">
              <a:buNone/>
            </a:pPr>
            <a:r>
              <a:rPr lang="en-US" dirty="0"/>
              <a:t>Big data from job vacancies reveals patterns in labor market demand.</a:t>
            </a:r>
            <a:br>
              <a:rPr lang="en-US" dirty="0"/>
            </a:br>
            <a:r>
              <a:rPr lang="en-US" dirty="0"/>
              <a:t>(Frank et al., 2019)</a:t>
            </a:r>
          </a:p>
          <a:p>
            <a:pPr marL="0" lvl="1" indent="0">
              <a:buNone/>
            </a:pPr>
            <a:endParaRPr lang="en-US" dirty="0"/>
          </a:p>
          <a:p>
            <a:pPr marL="0" lvl="1" indent="0">
              <a:buNone/>
            </a:pPr>
            <a:r>
              <a:rPr lang="en-US" dirty="0"/>
              <a:t>Skills function as economic signals valued by the labor market.</a:t>
            </a:r>
            <a:br>
              <a:rPr lang="en-US" dirty="0"/>
            </a:br>
            <a:r>
              <a:rPr lang="en-US" dirty="0"/>
              <a:t>(Deming, 2017)</a:t>
            </a:r>
            <a:endParaRPr lang="ru-RU" dirty="0"/>
          </a:p>
        </p:txBody>
      </p:sp>
      <p:sp>
        <p:nvSpPr>
          <p:cNvPr id="7" name="Объект 2">
            <a:extLst>
              <a:ext uri="{FF2B5EF4-FFF2-40B4-BE49-F238E27FC236}">
                <a16:creationId xmlns:a16="http://schemas.microsoft.com/office/drawing/2014/main" id="{8F9B5CCB-8B7E-27FF-488C-DA100BE919A2}"/>
              </a:ext>
            </a:extLst>
          </p:cNvPr>
          <p:cNvSpPr txBox="1">
            <a:spLocks/>
          </p:cNvSpPr>
          <p:nvPr/>
        </p:nvSpPr>
        <p:spPr>
          <a:xfrm>
            <a:off x="7720207" y="1683406"/>
            <a:ext cx="3791212" cy="3850297"/>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b="1" dirty="0"/>
              <a:t>Predictive (Actionable Insights)</a:t>
            </a:r>
          </a:p>
          <a:p>
            <a:pPr marL="0" lvl="1" indent="0">
              <a:buNone/>
            </a:pPr>
            <a:endParaRPr lang="ru-RU" b="1" dirty="0"/>
          </a:p>
          <a:p>
            <a:pPr marL="0" lvl="1" indent="0">
              <a:buNone/>
            </a:pPr>
            <a:r>
              <a:rPr lang="en-US" dirty="0"/>
              <a:t>Predictive analytics estimates future trends and skill gaps.</a:t>
            </a:r>
            <a:br>
              <a:rPr lang="en-US" dirty="0"/>
            </a:br>
            <a:r>
              <a:rPr lang="en-US" dirty="0"/>
              <a:t>(Shmueli &amp; </a:t>
            </a:r>
            <a:r>
              <a:rPr lang="en-US" dirty="0" err="1"/>
              <a:t>Koppius</a:t>
            </a:r>
            <a:r>
              <a:rPr lang="en-US" dirty="0"/>
              <a:t>, 2011)</a:t>
            </a:r>
          </a:p>
          <a:p>
            <a:pPr marL="0" lvl="1" indent="0">
              <a:buNone/>
            </a:pPr>
            <a:endParaRPr lang="en-US" dirty="0"/>
          </a:p>
          <a:p>
            <a:pPr marL="0" lvl="1" indent="0">
              <a:buNone/>
            </a:pPr>
            <a:r>
              <a:rPr lang="en-US" b="1" dirty="0"/>
              <a:t>Goal: </a:t>
            </a:r>
            <a:r>
              <a:rPr lang="en-US" dirty="0"/>
              <a:t>Convert labor-market data into personalized skill recommendations.</a:t>
            </a:r>
            <a:endParaRPr lang="ru-RU" dirty="0"/>
          </a:p>
        </p:txBody>
      </p:sp>
      <p:sp>
        <p:nvSpPr>
          <p:cNvPr id="8" name="Номер слайда 7">
            <a:extLst>
              <a:ext uri="{FF2B5EF4-FFF2-40B4-BE49-F238E27FC236}">
                <a16:creationId xmlns:a16="http://schemas.microsoft.com/office/drawing/2014/main" id="{D6F5A7A3-FD11-6B90-9F65-D3846E7F60B1}"/>
              </a:ext>
            </a:extLst>
          </p:cNvPr>
          <p:cNvSpPr>
            <a:spLocks noGrp="1"/>
          </p:cNvSpPr>
          <p:nvPr>
            <p:ph type="sldNum" sz="quarter" idx="12"/>
          </p:nvPr>
        </p:nvSpPr>
        <p:spPr>
          <a:xfrm>
            <a:off x="9448800" y="0"/>
            <a:ext cx="2743200" cy="365125"/>
          </a:xfrm>
        </p:spPr>
        <p:txBody>
          <a:bodyPr/>
          <a:lstStyle/>
          <a:p>
            <a:fld id="{AB872730-9A74-4497-B7D6-02B393744B30}" type="slidenum">
              <a:rPr lang="ru-RU" smtClean="0"/>
              <a:t>12</a:t>
            </a:fld>
            <a:r>
              <a:rPr lang="ru-RU" dirty="0"/>
              <a:t> / 15</a:t>
            </a:r>
          </a:p>
        </p:txBody>
      </p:sp>
    </p:spTree>
    <p:extLst>
      <p:ext uri="{BB962C8B-B14F-4D97-AF65-F5344CB8AC3E}">
        <p14:creationId xmlns:p14="http://schemas.microsoft.com/office/powerpoint/2010/main" val="706673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0A6E0-1F1E-F3E9-68ED-7F2F5DF2113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744375-B290-DC30-F9B2-C7E47D99F57E}"/>
              </a:ext>
            </a:extLst>
          </p:cNvPr>
          <p:cNvSpPr>
            <a:spLocks noGrp="1"/>
          </p:cNvSpPr>
          <p:nvPr>
            <p:ph type="title"/>
          </p:nvPr>
        </p:nvSpPr>
        <p:spPr/>
        <p:txBody>
          <a:bodyPr/>
          <a:lstStyle/>
          <a:p>
            <a:r>
              <a:rPr lang="en-US" b="1" dirty="0"/>
              <a:t>Methods</a:t>
            </a:r>
            <a:endParaRPr lang="ru-RU" b="1" dirty="0"/>
          </a:p>
        </p:txBody>
      </p:sp>
      <p:sp>
        <p:nvSpPr>
          <p:cNvPr id="5" name="Номер слайда 4">
            <a:extLst>
              <a:ext uri="{FF2B5EF4-FFF2-40B4-BE49-F238E27FC236}">
                <a16:creationId xmlns:a16="http://schemas.microsoft.com/office/drawing/2014/main" id="{375C3AB5-4085-51E2-743C-82742DCA80F0}"/>
              </a:ext>
            </a:extLst>
          </p:cNvPr>
          <p:cNvSpPr>
            <a:spLocks noGrp="1"/>
          </p:cNvSpPr>
          <p:nvPr>
            <p:ph type="sldNum" sz="quarter" idx="12"/>
          </p:nvPr>
        </p:nvSpPr>
        <p:spPr>
          <a:xfrm>
            <a:off x="9448800" y="0"/>
            <a:ext cx="2743200" cy="365125"/>
          </a:xfrm>
        </p:spPr>
        <p:txBody>
          <a:bodyPr/>
          <a:lstStyle/>
          <a:p>
            <a:fld id="{AB872730-9A74-4497-B7D6-02B393744B30}" type="slidenum">
              <a:rPr lang="ru-RU" smtClean="0"/>
              <a:t>13</a:t>
            </a:fld>
            <a:r>
              <a:rPr lang="ru-RU" dirty="0"/>
              <a:t> / 15</a:t>
            </a:r>
          </a:p>
        </p:txBody>
      </p:sp>
      <p:pic>
        <p:nvPicPr>
          <p:cNvPr id="2052" name="Picture 4">
            <a:extLst>
              <a:ext uri="{FF2B5EF4-FFF2-40B4-BE49-F238E27FC236}">
                <a16:creationId xmlns:a16="http://schemas.microsoft.com/office/drawing/2014/main" id="{3C73FCD0-8F33-8601-4BB3-9DAAB00554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59948"/>
            <a:ext cx="10515600" cy="4832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4135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80B2E-348A-7789-0893-C7CBF1F0E5B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70B3C7-EEB9-BE24-56AA-54F3E9E57223}"/>
              </a:ext>
            </a:extLst>
          </p:cNvPr>
          <p:cNvSpPr>
            <a:spLocks noGrp="1"/>
          </p:cNvSpPr>
          <p:nvPr>
            <p:ph type="title"/>
          </p:nvPr>
        </p:nvSpPr>
        <p:spPr/>
        <p:txBody>
          <a:bodyPr/>
          <a:lstStyle/>
          <a:p>
            <a:r>
              <a:rPr lang="en-US" b="1" dirty="0"/>
              <a:t>Anticipated Results</a:t>
            </a:r>
            <a:endParaRPr lang="ru-RU" b="1" dirty="0"/>
          </a:p>
        </p:txBody>
      </p:sp>
      <p:sp>
        <p:nvSpPr>
          <p:cNvPr id="8" name="Объект 7">
            <a:extLst>
              <a:ext uri="{FF2B5EF4-FFF2-40B4-BE49-F238E27FC236}">
                <a16:creationId xmlns:a16="http://schemas.microsoft.com/office/drawing/2014/main" id="{45E25A79-C961-ABA9-B613-7C3BB7E506A2}"/>
              </a:ext>
            </a:extLst>
          </p:cNvPr>
          <p:cNvSpPr>
            <a:spLocks noGrp="1"/>
          </p:cNvSpPr>
          <p:nvPr>
            <p:ph idx="1"/>
          </p:nvPr>
        </p:nvSpPr>
        <p:spPr>
          <a:xfrm>
            <a:off x="838200" y="1826002"/>
            <a:ext cx="5257800" cy="2022823"/>
          </a:xfrm>
        </p:spPr>
        <p:txBody>
          <a:bodyPr numCol="1"/>
          <a:lstStyle/>
          <a:p>
            <a:pPr marL="0" indent="0">
              <a:buNone/>
            </a:pPr>
            <a:r>
              <a:rPr lang="en-US" dirty="0"/>
              <a:t>A working platform with user authentication, interactive portfolio constructor, and one‑click PDF resume generation.</a:t>
            </a:r>
            <a:endParaRPr lang="ru-RU" dirty="0"/>
          </a:p>
        </p:txBody>
      </p:sp>
      <p:sp>
        <p:nvSpPr>
          <p:cNvPr id="11" name="Объект 7">
            <a:extLst>
              <a:ext uri="{FF2B5EF4-FFF2-40B4-BE49-F238E27FC236}">
                <a16:creationId xmlns:a16="http://schemas.microsoft.com/office/drawing/2014/main" id="{0FC06B19-703B-CCA2-ED57-CEE18D6E71FB}"/>
              </a:ext>
            </a:extLst>
          </p:cNvPr>
          <p:cNvSpPr txBox="1">
            <a:spLocks/>
          </p:cNvSpPr>
          <p:nvPr/>
        </p:nvSpPr>
        <p:spPr>
          <a:xfrm>
            <a:off x="838200" y="4327872"/>
            <a:ext cx="5257800" cy="2022823"/>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Integration with HH.ru API for real‑time skill‑gap analysis and personalized career recommendations.</a:t>
            </a:r>
            <a:endParaRPr lang="ru-RU" dirty="0"/>
          </a:p>
        </p:txBody>
      </p:sp>
      <p:pic>
        <p:nvPicPr>
          <p:cNvPr id="10246" name="Picture 6">
            <a:extLst>
              <a:ext uri="{FF2B5EF4-FFF2-40B4-BE49-F238E27FC236}">
                <a16:creationId xmlns:a16="http://schemas.microsoft.com/office/drawing/2014/main" id="{D5FCA7E5-F029-82A5-4139-68534F449B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8550" y="1346956"/>
            <a:ext cx="4795250" cy="5003739"/>
          </a:xfrm>
          <a:prstGeom prst="rect">
            <a:avLst/>
          </a:prstGeom>
          <a:noFill/>
          <a:extLst>
            <a:ext uri="{909E8E84-426E-40DD-AFC4-6F175D3DCCD1}">
              <a14:hiddenFill xmlns:a14="http://schemas.microsoft.com/office/drawing/2010/main">
                <a:solidFill>
                  <a:srgbClr val="FFFFFF"/>
                </a:solidFill>
              </a14:hiddenFill>
            </a:ext>
          </a:extLst>
        </p:spPr>
      </p:pic>
      <p:sp>
        <p:nvSpPr>
          <p:cNvPr id="5" name="Номер слайда 4">
            <a:extLst>
              <a:ext uri="{FF2B5EF4-FFF2-40B4-BE49-F238E27FC236}">
                <a16:creationId xmlns:a16="http://schemas.microsoft.com/office/drawing/2014/main" id="{8ED50696-E5EB-3E15-0F0F-7C6586B60A52}"/>
              </a:ext>
            </a:extLst>
          </p:cNvPr>
          <p:cNvSpPr>
            <a:spLocks noGrp="1"/>
          </p:cNvSpPr>
          <p:nvPr>
            <p:ph type="sldNum" sz="quarter" idx="12"/>
          </p:nvPr>
        </p:nvSpPr>
        <p:spPr>
          <a:xfrm>
            <a:off x="9448800" y="0"/>
            <a:ext cx="2743200" cy="365125"/>
          </a:xfrm>
        </p:spPr>
        <p:txBody>
          <a:bodyPr/>
          <a:lstStyle/>
          <a:p>
            <a:fld id="{AB872730-9A74-4497-B7D6-02B393744B30}" type="slidenum">
              <a:rPr lang="ru-RU" smtClean="0"/>
              <a:t>14</a:t>
            </a:fld>
            <a:r>
              <a:rPr lang="ru-RU" dirty="0"/>
              <a:t> / 15</a:t>
            </a:r>
          </a:p>
        </p:txBody>
      </p:sp>
    </p:spTree>
    <p:extLst>
      <p:ext uri="{BB962C8B-B14F-4D97-AF65-F5344CB8AC3E}">
        <p14:creationId xmlns:p14="http://schemas.microsoft.com/office/powerpoint/2010/main" val="3805720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82183-D8A0-EEB7-4D0F-B527BC29ECB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712D2D-F103-67DA-DB1C-338A0112DB4B}"/>
              </a:ext>
            </a:extLst>
          </p:cNvPr>
          <p:cNvSpPr>
            <a:spLocks noGrp="1"/>
          </p:cNvSpPr>
          <p:nvPr>
            <p:ph type="title"/>
          </p:nvPr>
        </p:nvSpPr>
        <p:spPr/>
        <p:txBody>
          <a:bodyPr/>
          <a:lstStyle/>
          <a:p>
            <a:r>
              <a:rPr lang="ru-RU" b="1" dirty="0" err="1"/>
              <a:t>References</a:t>
            </a:r>
            <a:endParaRPr lang="ru-RU" dirty="0"/>
          </a:p>
        </p:txBody>
      </p:sp>
      <p:sp>
        <p:nvSpPr>
          <p:cNvPr id="5" name="Объект 4">
            <a:extLst>
              <a:ext uri="{FF2B5EF4-FFF2-40B4-BE49-F238E27FC236}">
                <a16:creationId xmlns:a16="http://schemas.microsoft.com/office/drawing/2014/main" id="{5E589984-F4AB-B4C4-0C07-A8FDC49CD231}"/>
              </a:ext>
            </a:extLst>
          </p:cNvPr>
          <p:cNvSpPr>
            <a:spLocks noGrp="1"/>
          </p:cNvSpPr>
          <p:nvPr>
            <p:ph idx="1"/>
          </p:nvPr>
        </p:nvSpPr>
        <p:spPr>
          <a:xfrm>
            <a:off x="838200" y="1587500"/>
            <a:ext cx="10515600" cy="4813300"/>
          </a:xfrm>
        </p:spPr>
        <p:txBody>
          <a:bodyPr numCol="2">
            <a:noAutofit/>
          </a:bodyPr>
          <a:lstStyle/>
          <a:p>
            <a:pPr marL="540000" algn="just">
              <a:buNone/>
            </a:pPr>
            <a:r>
              <a:rPr lang="en-US" sz="1200" dirty="0">
                <a:effectLst/>
                <a:latin typeface="Times New Roman" panose="02020603050405020304" pitchFamily="18" charset="0"/>
                <a:ea typeface="Times New Roman" panose="02020603050405020304" pitchFamily="18" charset="0"/>
              </a:rPr>
              <a:t>Bateman, S., et  al. (2010). Useful junk? The effects of visual embellishment on comprehension and memorability of charts. </a:t>
            </a:r>
            <a:r>
              <a:rPr lang="en-US" sz="1200" i="1" dirty="0">
                <a:effectLst/>
                <a:latin typeface="Times New Roman" panose="02020603050405020304" pitchFamily="18" charset="0"/>
                <a:ea typeface="Times New Roman" panose="02020603050405020304" pitchFamily="18" charset="0"/>
              </a:rPr>
              <a:t>Proceedings of the SIGCHI Conference on Human Factors in Computing Systems</a:t>
            </a:r>
            <a:r>
              <a:rPr lang="en-US" sz="1200" dirty="0">
                <a:effectLst/>
                <a:latin typeface="Times New Roman" panose="02020603050405020304" pitchFamily="18" charset="0"/>
                <a:ea typeface="Times New Roman" panose="02020603050405020304" pitchFamily="18" charset="0"/>
              </a:rPr>
              <a:t>, pp. 2573–2582. URL: </a:t>
            </a:r>
            <a:r>
              <a:rPr lang="en-US" sz="1200" u="sng" dirty="0">
                <a:solidFill>
                  <a:srgbClr val="467886"/>
                </a:solidFill>
                <a:effectLst/>
                <a:latin typeface="Times New Roman" panose="02020603050405020304" pitchFamily="18" charset="0"/>
                <a:ea typeface="Times New Roman" panose="02020603050405020304" pitchFamily="18" charset="0"/>
                <a:hlinkClick r:id="rId3"/>
              </a:rPr>
              <a:t>https://doi.org/10.1145/1753326.1753716</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a:effectLst/>
                <a:latin typeface="Times New Roman" panose="02020603050405020304" pitchFamily="18" charset="0"/>
                <a:ea typeface="Times New Roman" panose="02020603050405020304" pitchFamily="18" charset="0"/>
              </a:rPr>
              <a:t>Bargas-Avila, J. A., et al. (2011). Simple but crucial user interfaces in the World Wide Web: Introducing 20 guidelines for usable web form design. </a:t>
            </a:r>
            <a:r>
              <a:rPr lang="en-US" sz="1200" i="1" dirty="0">
                <a:effectLst/>
                <a:latin typeface="Times New Roman" panose="02020603050405020304" pitchFamily="18" charset="0"/>
                <a:ea typeface="Times New Roman" panose="02020603050405020304" pitchFamily="18" charset="0"/>
              </a:rPr>
              <a:t>Journal of Usability Studies,</a:t>
            </a:r>
            <a:r>
              <a:rPr lang="en-US" sz="1200" dirty="0">
                <a:effectLst/>
                <a:latin typeface="Times New Roman" panose="02020603050405020304" pitchFamily="18" charset="0"/>
                <a:ea typeface="Times New Roman" panose="02020603050405020304" pitchFamily="18" charset="0"/>
              </a:rPr>
              <a:t> Vol. 7(1),</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mn-cs"/>
              </a:rPr>
              <a:t> pp. </a:t>
            </a:r>
            <a:r>
              <a:rPr lang="en-US" sz="1200" dirty="0">
                <a:effectLst/>
                <a:latin typeface="Times New Roman" panose="02020603050405020304" pitchFamily="18" charset="0"/>
                <a:ea typeface="Times New Roman" panose="02020603050405020304" pitchFamily="18" charset="0"/>
              </a:rPr>
              <a:t>1–28.</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a:effectLst/>
                <a:latin typeface="Times New Roman" panose="02020603050405020304" pitchFamily="18" charset="0"/>
                <a:ea typeface="Times New Roman" panose="02020603050405020304" pitchFamily="18" charset="0"/>
              </a:rPr>
              <a:t>Borkin, M. A., et al. (2013). What makes a visualization memorable? </a:t>
            </a:r>
            <a:r>
              <a:rPr lang="en-US" sz="1200" i="1" dirty="0">
                <a:effectLst/>
                <a:latin typeface="Times New Roman" panose="02020603050405020304" pitchFamily="18" charset="0"/>
                <a:ea typeface="Times New Roman" panose="02020603050405020304" pitchFamily="18" charset="0"/>
              </a:rPr>
              <a:t>IEEE Transactions on Visualization and Computer Graphics, </a:t>
            </a:r>
            <a:r>
              <a:rPr lang="en-US" sz="1200" dirty="0">
                <a:effectLst/>
                <a:latin typeface="Times New Roman" panose="02020603050405020304" pitchFamily="18" charset="0"/>
                <a:ea typeface="Times New Roman" panose="02020603050405020304" pitchFamily="18" charset="0"/>
              </a:rPr>
              <a:t>Vol. 19(12), pp. 2306–2315. </a:t>
            </a:r>
            <a:r>
              <a:rPr lang="en-US" sz="1200" dirty="0">
                <a:latin typeface="Times New Roman" panose="02020603050405020304" pitchFamily="18" charset="0"/>
                <a:ea typeface="Times New Roman" panose="02020603050405020304" pitchFamily="18" charset="0"/>
              </a:rPr>
              <a:t>URL: </a:t>
            </a:r>
            <a:r>
              <a:rPr lang="en-US" sz="1200" u="sng" dirty="0">
                <a:solidFill>
                  <a:srgbClr val="467886"/>
                </a:solidFill>
                <a:effectLst/>
                <a:latin typeface="Times New Roman" panose="02020603050405020304" pitchFamily="18" charset="0"/>
                <a:ea typeface="Times New Roman" panose="02020603050405020304" pitchFamily="18" charset="0"/>
                <a:hlinkClick r:id="rId4"/>
              </a:rPr>
              <a:t>https://doi.org/10.1109/TVCG.2013.234</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err="1">
                <a:effectLst/>
                <a:latin typeface="Times New Roman" panose="02020603050405020304" pitchFamily="18" charset="0"/>
                <a:ea typeface="Times New Roman" panose="02020603050405020304" pitchFamily="18" charset="0"/>
              </a:rPr>
              <a:t>Caers</a:t>
            </a:r>
            <a:r>
              <a:rPr lang="en-US" sz="1200" dirty="0">
                <a:effectLst/>
                <a:latin typeface="Times New Roman" panose="02020603050405020304" pitchFamily="18" charset="0"/>
                <a:ea typeface="Times New Roman" panose="02020603050405020304" pitchFamily="18" charset="0"/>
              </a:rPr>
              <a:t>, R.,</a:t>
            </a:r>
            <a:r>
              <a:rPr lang="ru-RU" sz="1200" dirty="0">
                <a:effectLst/>
                <a:latin typeface="Times New Roman" panose="02020603050405020304" pitchFamily="18" charset="0"/>
                <a:ea typeface="Times New Roman" panose="02020603050405020304" pitchFamily="18" charset="0"/>
              </a:rPr>
              <a:t> </a:t>
            </a:r>
            <a:r>
              <a:rPr lang="en-US" sz="1200" dirty="0" err="1">
                <a:effectLst/>
                <a:latin typeface="Times New Roman" panose="02020603050405020304" pitchFamily="18" charset="0"/>
                <a:ea typeface="Times New Roman" panose="02020603050405020304" pitchFamily="18" charset="0"/>
              </a:rPr>
              <a:t>Castelyns</a:t>
            </a:r>
            <a:r>
              <a:rPr lang="en-US" sz="1200" dirty="0">
                <a:effectLst/>
                <a:latin typeface="Times New Roman" panose="02020603050405020304" pitchFamily="18" charset="0"/>
                <a:ea typeface="Times New Roman" panose="02020603050405020304" pitchFamily="18" charset="0"/>
              </a:rPr>
              <a:t>, V. (2011). LinkedIn and Facebook in Belgium: The influences and biases of social network sites in recruitment and selection procedures. </a:t>
            </a:r>
            <a:r>
              <a:rPr lang="en-US" sz="1200" i="1" dirty="0">
                <a:effectLst/>
                <a:latin typeface="Times New Roman" panose="02020603050405020304" pitchFamily="18" charset="0"/>
                <a:ea typeface="Times New Roman" panose="02020603050405020304" pitchFamily="18" charset="0"/>
              </a:rPr>
              <a:t>Social Science Computer Review, </a:t>
            </a:r>
            <a:r>
              <a:rPr lang="en-US" sz="1200" dirty="0">
                <a:effectLst/>
                <a:latin typeface="Times New Roman" panose="02020603050405020304" pitchFamily="18" charset="0"/>
                <a:ea typeface="Times New Roman" panose="02020603050405020304" pitchFamily="18" charset="0"/>
              </a:rPr>
              <a:t>Vol.</a:t>
            </a:r>
            <a:r>
              <a:rPr lang="en-US" sz="1200" i="1"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29(4), pp. 437–448. URL: </a:t>
            </a:r>
            <a:r>
              <a:rPr lang="en-US" sz="1200" u="sng" dirty="0">
                <a:solidFill>
                  <a:srgbClr val="467886"/>
                </a:solidFill>
                <a:effectLst/>
                <a:latin typeface="Times New Roman" panose="02020603050405020304" pitchFamily="18" charset="0"/>
                <a:ea typeface="Times New Roman" panose="02020603050405020304" pitchFamily="18" charset="0"/>
                <a:hlinkClick r:id="rId5"/>
              </a:rPr>
              <a:t>https://doi.org/10.1177/0894439310386567</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a:effectLst/>
                <a:latin typeface="Times New Roman" panose="02020603050405020304" pitchFamily="18" charset="0"/>
                <a:ea typeface="Times New Roman" panose="02020603050405020304" pitchFamily="18" charset="0"/>
              </a:rPr>
              <a:t>Chen, H., Chiang, R. H. L., </a:t>
            </a:r>
            <a:r>
              <a:rPr lang="en-US" sz="1200" dirty="0" err="1">
                <a:effectLst/>
                <a:latin typeface="Times New Roman" panose="02020603050405020304" pitchFamily="18" charset="0"/>
                <a:ea typeface="Times New Roman" panose="02020603050405020304" pitchFamily="18" charset="0"/>
              </a:rPr>
              <a:t>Storey</a:t>
            </a:r>
            <a:r>
              <a:rPr lang="en-US" sz="1200" dirty="0">
                <a:effectLst/>
                <a:latin typeface="Times New Roman" panose="02020603050405020304" pitchFamily="18" charset="0"/>
                <a:ea typeface="Times New Roman" panose="02020603050405020304" pitchFamily="18" charset="0"/>
              </a:rPr>
              <a:t>, V. C. (2012). Business intelligence and analytics: From big data to big impact. </a:t>
            </a:r>
            <a:r>
              <a:rPr lang="en-US" sz="1200" i="1" dirty="0">
                <a:effectLst/>
                <a:latin typeface="Times New Roman" panose="02020603050405020304" pitchFamily="18" charset="0"/>
                <a:ea typeface="Times New Roman" panose="02020603050405020304" pitchFamily="18" charset="0"/>
              </a:rPr>
              <a:t>MIS Quarterly, </a:t>
            </a:r>
            <a:r>
              <a:rPr lang="en-US" sz="1200" dirty="0">
                <a:latin typeface="Times New Roman" panose="02020603050405020304" pitchFamily="18" charset="0"/>
                <a:ea typeface="Times New Roman" panose="02020603050405020304" pitchFamily="18" charset="0"/>
              </a:rPr>
              <a:t>Vol.</a:t>
            </a:r>
            <a:r>
              <a:rPr lang="en-US" sz="1200" i="1" dirty="0">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36(4), pp. 1165–1188.</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a:effectLst/>
                <a:latin typeface="Times New Roman" panose="02020603050405020304" pitchFamily="18" charset="0"/>
                <a:ea typeface="Times New Roman" panose="02020603050405020304" pitchFamily="18" charset="0"/>
              </a:rPr>
              <a:t>Deming, D. J. (2017). The growing importance of social skills in the labor market. </a:t>
            </a:r>
            <a:r>
              <a:rPr lang="en-US" sz="1200" i="1" dirty="0">
                <a:effectLst/>
                <a:latin typeface="Times New Roman" panose="02020603050405020304" pitchFamily="18" charset="0"/>
                <a:ea typeface="Times New Roman" panose="02020603050405020304" pitchFamily="18" charset="0"/>
              </a:rPr>
              <a:t>Quarterly Journal of Economics, </a:t>
            </a:r>
            <a:r>
              <a:rPr lang="en-US" sz="1200" dirty="0">
                <a:latin typeface="Times New Roman" panose="02020603050405020304" pitchFamily="18" charset="0"/>
                <a:ea typeface="Times New Roman" panose="02020603050405020304" pitchFamily="18" charset="0"/>
              </a:rPr>
              <a:t>Vol.</a:t>
            </a:r>
            <a:r>
              <a:rPr lang="en-US" sz="1200" i="1" dirty="0">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132(4), pp. 1593–1640. </a:t>
            </a:r>
            <a:r>
              <a:rPr lang="en-US" sz="1200" dirty="0">
                <a:latin typeface="Times New Roman" panose="02020603050405020304" pitchFamily="18" charset="0"/>
                <a:ea typeface="Times New Roman" panose="02020603050405020304" pitchFamily="18" charset="0"/>
              </a:rPr>
              <a:t>URL: </a:t>
            </a:r>
            <a:r>
              <a:rPr lang="en-US" sz="1200" u="sng" dirty="0">
                <a:solidFill>
                  <a:srgbClr val="467886"/>
                </a:solidFill>
                <a:effectLst/>
                <a:latin typeface="Times New Roman" panose="02020603050405020304" pitchFamily="18" charset="0"/>
                <a:ea typeface="Times New Roman" panose="02020603050405020304" pitchFamily="18" charset="0"/>
                <a:hlinkClick r:id="rId6"/>
              </a:rPr>
              <a:t>https://doi.org/10.1093/qje/qjx022</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a:effectLst/>
                <a:latin typeface="Times New Roman" panose="02020603050405020304" pitchFamily="18" charset="0"/>
                <a:ea typeface="Times New Roman" panose="02020603050405020304" pitchFamily="18" charset="0"/>
              </a:rPr>
              <a:t>Frank, M. R., et al. (2019). Toward understanding the impact of artificial intelligence on labor. </a:t>
            </a:r>
            <a:r>
              <a:rPr lang="en-US" sz="1200" i="1" dirty="0">
                <a:effectLst/>
                <a:latin typeface="Times New Roman" panose="02020603050405020304" pitchFamily="18" charset="0"/>
                <a:ea typeface="Times New Roman" panose="02020603050405020304" pitchFamily="18" charset="0"/>
              </a:rPr>
              <a:t>Proceedings of the National Academy of Sciences, </a:t>
            </a:r>
            <a:r>
              <a:rPr lang="en-US" sz="1200" dirty="0">
                <a:latin typeface="Times New Roman" panose="02020603050405020304" pitchFamily="18" charset="0"/>
                <a:ea typeface="Times New Roman" panose="02020603050405020304" pitchFamily="18" charset="0"/>
              </a:rPr>
              <a:t>Vol. </a:t>
            </a:r>
            <a:r>
              <a:rPr lang="en-US" sz="1200" dirty="0">
                <a:effectLst/>
                <a:latin typeface="Times New Roman" panose="02020603050405020304" pitchFamily="18" charset="0"/>
                <a:ea typeface="Times New Roman" panose="02020603050405020304" pitchFamily="18" charset="0"/>
              </a:rPr>
              <a:t>116(14), pp. 6531–6539. </a:t>
            </a:r>
            <a:r>
              <a:rPr lang="en-US" sz="1200" dirty="0">
                <a:latin typeface="Times New Roman" panose="02020603050405020304" pitchFamily="18" charset="0"/>
                <a:ea typeface="Times New Roman" panose="02020603050405020304" pitchFamily="18" charset="0"/>
              </a:rPr>
              <a:t>URL:</a:t>
            </a:r>
            <a:r>
              <a:rPr lang="ru-RU" sz="1200" dirty="0">
                <a:latin typeface="Times New Roman" panose="02020603050405020304" pitchFamily="18" charset="0"/>
                <a:ea typeface="Times New Roman" panose="02020603050405020304" pitchFamily="18" charset="0"/>
              </a:rPr>
              <a:t> </a:t>
            </a:r>
            <a:r>
              <a:rPr lang="en-US" sz="1200" u="sng" dirty="0">
                <a:solidFill>
                  <a:srgbClr val="467886"/>
                </a:solidFill>
                <a:effectLst/>
                <a:latin typeface="Times New Roman" panose="02020603050405020304" pitchFamily="18" charset="0"/>
                <a:ea typeface="Times New Roman" panose="02020603050405020304" pitchFamily="18" charset="0"/>
                <a:hlinkClick r:id="rId7"/>
              </a:rPr>
              <a:t>https://doi.org/10.1073/pnas.1900949116</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a:effectLst/>
                <a:latin typeface="Times New Roman" panose="02020603050405020304" pitchFamily="18" charset="0"/>
                <a:ea typeface="Times New Roman" panose="02020603050405020304" pitchFamily="18" charset="0"/>
              </a:rPr>
              <a:t>Gefen, D., </a:t>
            </a:r>
            <a:r>
              <a:rPr lang="en-US" sz="1200" dirty="0" err="1">
                <a:effectLst/>
                <a:latin typeface="Times New Roman" panose="02020603050405020304" pitchFamily="18" charset="0"/>
                <a:ea typeface="Times New Roman" panose="02020603050405020304" pitchFamily="18" charset="0"/>
              </a:rPr>
              <a:t>Benbasat</a:t>
            </a:r>
            <a:r>
              <a:rPr lang="en-US" sz="1200" dirty="0">
                <a:effectLst/>
                <a:latin typeface="Times New Roman" panose="02020603050405020304" pitchFamily="18" charset="0"/>
                <a:ea typeface="Times New Roman" panose="02020603050405020304" pitchFamily="18" charset="0"/>
              </a:rPr>
              <a:t>, I., Pavlou, P. A. (2008). A research agenda for trust in online environments. </a:t>
            </a:r>
            <a:r>
              <a:rPr lang="en-US" sz="1200" i="1" dirty="0">
                <a:effectLst/>
                <a:latin typeface="Times New Roman" panose="02020603050405020304" pitchFamily="18" charset="0"/>
                <a:ea typeface="Times New Roman" panose="02020603050405020304" pitchFamily="18" charset="0"/>
              </a:rPr>
              <a:t>Journal of Management Information Systems, </a:t>
            </a:r>
            <a:r>
              <a:rPr lang="en-US" sz="1200" dirty="0">
                <a:latin typeface="Times New Roman" panose="02020603050405020304" pitchFamily="18" charset="0"/>
                <a:ea typeface="Times New Roman" panose="02020603050405020304" pitchFamily="18" charset="0"/>
              </a:rPr>
              <a:t>Vol.</a:t>
            </a:r>
            <a:r>
              <a:rPr lang="en-US" sz="1200" i="1" dirty="0">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24(4), pp. 275–286.</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a:effectLst/>
                <a:latin typeface="Times New Roman" panose="02020603050405020304" pitchFamily="18" charset="0"/>
                <a:ea typeface="Times New Roman" panose="02020603050405020304" pitchFamily="18" charset="0"/>
              </a:rPr>
              <a:t>Langer, M., König, C. J., </a:t>
            </a:r>
            <a:r>
              <a:rPr lang="en-US" sz="1200" dirty="0" err="1">
                <a:effectLst/>
                <a:latin typeface="Times New Roman" panose="02020603050405020304" pitchFamily="18" charset="0"/>
                <a:ea typeface="Times New Roman" panose="02020603050405020304" pitchFamily="18" charset="0"/>
              </a:rPr>
              <a:t>Fitili</a:t>
            </a:r>
            <a:r>
              <a:rPr lang="en-US" sz="1200" dirty="0">
                <a:effectLst/>
                <a:latin typeface="Times New Roman" panose="02020603050405020304" pitchFamily="18" charset="0"/>
                <a:ea typeface="Times New Roman" panose="02020603050405020304" pitchFamily="18" charset="0"/>
              </a:rPr>
              <a:t>, A. (2018). Information presentation in online recruitment systems and its effects on assessment outcomes. </a:t>
            </a:r>
            <a:r>
              <a:rPr lang="en-US" sz="1200" i="1" dirty="0">
                <a:effectLst/>
                <a:latin typeface="Times New Roman" panose="02020603050405020304" pitchFamily="18" charset="0"/>
                <a:ea typeface="Times New Roman" panose="02020603050405020304" pitchFamily="18" charset="0"/>
              </a:rPr>
              <a:t>International Journal of Selection and Assessment, </a:t>
            </a:r>
            <a:r>
              <a:rPr lang="en-US" sz="1200" dirty="0">
                <a:latin typeface="Times New Roman" panose="02020603050405020304" pitchFamily="18" charset="0"/>
                <a:ea typeface="Times New Roman" panose="02020603050405020304" pitchFamily="18" charset="0"/>
              </a:rPr>
              <a:t>Vol.</a:t>
            </a:r>
            <a:r>
              <a:rPr lang="en-US" sz="1200" i="1" dirty="0">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26(4), pp. 353–365.</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a:effectLst/>
                <a:latin typeface="Times New Roman" panose="02020603050405020304" pitchFamily="18" charset="0"/>
                <a:ea typeface="Times New Roman" panose="02020603050405020304" pitchFamily="18" charset="0"/>
              </a:rPr>
              <a:t>Petersen, K., </a:t>
            </a:r>
            <a:r>
              <a:rPr lang="en-US" sz="1200" dirty="0" err="1">
                <a:effectLst/>
                <a:latin typeface="Times New Roman" panose="02020603050405020304" pitchFamily="18" charset="0"/>
                <a:ea typeface="Times New Roman" panose="02020603050405020304" pitchFamily="18" charset="0"/>
              </a:rPr>
              <a:t>Wohlin</a:t>
            </a:r>
            <a:r>
              <a:rPr lang="en-US" sz="1200" dirty="0">
                <a:effectLst/>
                <a:latin typeface="Times New Roman" panose="02020603050405020304" pitchFamily="18" charset="0"/>
                <a:ea typeface="Times New Roman" panose="02020603050405020304" pitchFamily="18" charset="0"/>
              </a:rPr>
              <a:t>, C. (2010). The effect of moving from a plan-driven to an agile development approach. </a:t>
            </a:r>
            <a:r>
              <a:rPr lang="en-US" sz="1200" i="1" dirty="0">
                <a:effectLst/>
                <a:latin typeface="Times New Roman" panose="02020603050405020304" pitchFamily="18" charset="0"/>
                <a:ea typeface="Times New Roman" panose="02020603050405020304" pitchFamily="18" charset="0"/>
              </a:rPr>
              <a:t>Empirical Software Engineering, </a:t>
            </a:r>
            <a:r>
              <a:rPr lang="en-US" sz="1200" dirty="0">
                <a:latin typeface="Times New Roman" panose="02020603050405020304" pitchFamily="18" charset="0"/>
                <a:ea typeface="Times New Roman" panose="02020603050405020304" pitchFamily="18" charset="0"/>
              </a:rPr>
              <a:t>Vol.</a:t>
            </a:r>
            <a:r>
              <a:rPr lang="en-US" sz="1200" dirty="0">
                <a:effectLst/>
                <a:latin typeface="Times New Roman" panose="02020603050405020304" pitchFamily="18" charset="0"/>
                <a:ea typeface="Times New Roman" panose="02020603050405020304" pitchFamily="18" charset="0"/>
              </a:rPr>
              <a:t> 15(6), pp. 654–693. </a:t>
            </a:r>
            <a:r>
              <a:rPr lang="en-US" sz="1200" dirty="0">
                <a:latin typeface="Times New Roman" panose="02020603050405020304" pitchFamily="18" charset="0"/>
                <a:ea typeface="Times New Roman" panose="02020603050405020304" pitchFamily="18" charset="0"/>
              </a:rPr>
              <a:t>URL: </a:t>
            </a:r>
            <a:r>
              <a:rPr lang="en-US" sz="1200" u="sng" dirty="0">
                <a:solidFill>
                  <a:srgbClr val="467886"/>
                </a:solidFill>
                <a:effectLst/>
                <a:latin typeface="Times New Roman" panose="02020603050405020304" pitchFamily="18" charset="0"/>
                <a:ea typeface="Times New Roman" panose="02020603050405020304" pitchFamily="18" charset="0"/>
                <a:hlinkClick r:id="rId8"/>
              </a:rPr>
              <a:t>https://doi.org/10.1007/s10664-010-9136-6</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a:effectLst/>
                <a:latin typeface="Times New Roman" panose="02020603050405020304" pitchFamily="18" charset="0"/>
                <a:ea typeface="Times New Roman" panose="02020603050405020304" pitchFamily="18" charset="0"/>
              </a:rPr>
              <a:t>Rivera, L. A. (2015). Hiring as cultural matching: The case of elite professional service firms. </a:t>
            </a:r>
            <a:r>
              <a:rPr lang="ru-RU" sz="1200" i="1" dirty="0">
                <a:effectLst/>
                <a:latin typeface="Times New Roman" panose="02020603050405020304" pitchFamily="18" charset="0"/>
                <a:ea typeface="Times New Roman" panose="02020603050405020304" pitchFamily="18" charset="0"/>
              </a:rPr>
              <a:t>American </a:t>
            </a:r>
            <a:r>
              <a:rPr lang="ru-RU" sz="1200" i="1" dirty="0" err="1">
                <a:effectLst/>
                <a:latin typeface="Times New Roman" panose="02020603050405020304" pitchFamily="18" charset="0"/>
                <a:ea typeface="Times New Roman" panose="02020603050405020304" pitchFamily="18" charset="0"/>
              </a:rPr>
              <a:t>Sociological</a:t>
            </a:r>
            <a:r>
              <a:rPr lang="ru-RU" sz="1200" i="1" dirty="0">
                <a:effectLst/>
                <a:latin typeface="Times New Roman" panose="02020603050405020304" pitchFamily="18" charset="0"/>
                <a:ea typeface="Times New Roman" panose="02020603050405020304" pitchFamily="18" charset="0"/>
              </a:rPr>
              <a:t> Review, </a:t>
            </a:r>
            <a:r>
              <a:rPr lang="en-US" sz="1200" dirty="0">
                <a:latin typeface="Times New Roman" panose="02020603050405020304" pitchFamily="18" charset="0"/>
                <a:ea typeface="Times New Roman" panose="02020603050405020304" pitchFamily="18" charset="0"/>
              </a:rPr>
              <a:t>Vol. </a:t>
            </a:r>
            <a:r>
              <a:rPr lang="ru-RU" sz="1200" dirty="0">
                <a:effectLst/>
                <a:latin typeface="Times New Roman" panose="02020603050405020304" pitchFamily="18" charset="0"/>
                <a:ea typeface="Times New Roman" panose="02020603050405020304" pitchFamily="18" charset="0"/>
              </a:rPr>
              <a:t>80(5), </a:t>
            </a:r>
            <a:r>
              <a:rPr lang="en-US" sz="1200" dirty="0">
                <a:effectLst/>
                <a:latin typeface="Times New Roman" panose="02020603050405020304" pitchFamily="18" charset="0"/>
                <a:ea typeface="Times New Roman" panose="02020603050405020304" pitchFamily="18" charset="0"/>
              </a:rPr>
              <a:t>pp. </a:t>
            </a:r>
            <a:r>
              <a:rPr lang="ru-RU" sz="1200" dirty="0">
                <a:effectLst/>
                <a:latin typeface="Times New Roman" panose="02020603050405020304" pitchFamily="18" charset="0"/>
                <a:ea typeface="Times New Roman" panose="02020603050405020304" pitchFamily="18" charset="0"/>
              </a:rPr>
              <a:t>999–1022.</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a:effectLst/>
                <a:latin typeface="Times New Roman" panose="02020603050405020304" pitchFamily="18" charset="0"/>
                <a:ea typeface="Times New Roman" panose="02020603050405020304" pitchFamily="18" charset="0"/>
              </a:rPr>
              <a:t>Shmueli, G., </a:t>
            </a:r>
            <a:r>
              <a:rPr lang="en-US" sz="1200" dirty="0" err="1">
                <a:effectLst/>
                <a:latin typeface="Times New Roman" panose="02020603050405020304" pitchFamily="18" charset="0"/>
                <a:ea typeface="Times New Roman" panose="02020603050405020304" pitchFamily="18" charset="0"/>
              </a:rPr>
              <a:t>Koppius</a:t>
            </a:r>
            <a:r>
              <a:rPr lang="en-US" sz="1200" dirty="0">
                <a:effectLst/>
                <a:latin typeface="Times New Roman" panose="02020603050405020304" pitchFamily="18" charset="0"/>
                <a:ea typeface="Times New Roman" panose="02020603050405020304" pitchFamily="18" charset="0"/>
              </a:rPr>
              <a:t>, O. R. (2011). Predictive analytics in information systems research. </a:t>
            </a:r>
            <a:r>
              <a:rPr lang="en-US" sz="1200" i="1" dirty="0">
                <a:effectLst/>
                <a:latin typeface="Times New Roman" panose="02020603050405020304" pitchFamily="18" charset="0"/>
                <a:ea typeface="Times New Roman" panose="02020603050405020304" pitchFamily="18" charset="0"/>
              </a:rPr>
              <a:t>MIS Quarterly, </a:t>
            </a:r>
            <a:r>
              <a:rPr lang="en-US" sz="1200" dirty="0">
                <a:latin typeface="Times New Roman" panose="02020603050405020304" pitchFamily="18" charset="0"/>
                <a:ea typeface="Times New Roman" panose="02020603050405020304" pitchFamily="18" charset="0"/>
              </a:rPr>
              <a:t>Vol.</a:t>
            </a:r>
            <a:r>
              <a:rPr lang="en-US" sz="1200" i="1" dirty="0">
                <a:effectLst/>
                <a:latin typeface="Times New Roman" panose="02020603050405020304" pitchFamily="18" charset="0"/>
                <a:ea typeface="Times New Roman" panose="02020603050405020304" pitchFamily="18" charset="0"/>
              </a:rPr>
              <a:t> </a:t>
            </a:r>
            <a:r>
              <a:rPr lang="en-US" sz="1200" dirty="0">
                <a:effectLst/>
                <a:latin typeface="Times New Roman" panose="02020603050405020304" pitchFamily="18" charset="0"/>
                <a:ea typeface="Times New Roman" panose="02020603050405020304" pitchFamily="18" charset="0"/>
              </a:rPr>
              <a:t>35(3), pp. 553–572.</a:t>
            </a:r>
            <a:endParaRPr lang="ru-RU" sz="1100" dirty="0">
              <a:effectLst/>
              <a:latin typeface="Times New Roman" panose="02020603050405020304" pitchFamily="18" charset="0"/>
              <a:ea typeface="Times New Roman" panose="02020603050405020304" pitchFamily="18" charset="0"/>
            </a:endParaRPr>
          </a:p>
          <a:p>
            <a:pPr marL="540000" algn="just">
              <a:buNone/>
            </a:pPr>
            <a:r>
              <a:rPr lang="en-US" sz="1200" dirty="0">
                <a:effectLst/>
                <a:latin typeface="Times New Roman" panose="02020603050405020304" pitchFamily="18" charset="0"/>
                <a:ea typeface="Times New Roman" panose="02020603050405020304" pitchFamily="18" charset="0"/>
              </a:rPr>
              <a:t>Toma, C. L., Hancock, J. T. (2011). A new twist on love’s labor: Self-presentation in online dating profiles. </a:t>
            </a:r>
            <a:r>
              <a:rPr lang="ru-RU" sz="1200" i="1" dirty="0">
                <a:effectLst/>
                <a:latin typeface="Times New Roman" panose="02020603050405020304" pitchFamily="18" charset="0"/>
                <a:ea typeface="Times New Roman" panose="02020603050405020304" pitchFamily="18" charset="0"/>
              </a:rPr>
              <a:t>Communication Research,</a:t>
            </a:r>
            <a:r>
              <a:rPr lang="en-US" sz="1200" i="1" dirty="0">
                <a:effectLst/>
                <a:latin typeface="Times New Roman" panose="02020603050405020304" pitchFamily="18" charset="0"/>
                <a:ea typeface="Times New Roman" panose="02020603050405020304" pitchFamily="18" charset="0"/>
              </a:rPr>
              <a:t> </a:t>
            </a:r>
            <a:r>
              <a:rPr lang="en-US" sz="1200" dirty="0">
                <a:latin typeface="Times New Roman" panose="02020603050405020304" pitchFamily="18" charset="0"/>
                <a:ea typeface="Times New Roman" panose="02020603050405020304" pitchFamily="18" charset="0"/>
              </a:rPr>
              <a:t>Vol.</a:t>
            </a:r>
            <a:r>
              <a:rPr lang="ru-RU" sz="1200" i="1" dirty="0">
                <a:effectLst/>
                <a:latin typeface="Times New Roman" panose="02020603050405020304" pitchFamily="18" charset="0"/>
                <a:ea typeface="Times New Roman" panose="02020603050405020304" pitchFamily="18" charset="0"/>
              </a:rPr>
              <a:t> </a:t>
            </a:r>
            <a:r>
              <a:rPr lang="ru-RU" sz="1200" dirty="0">
                <a:effectLst/>
                <a:latin typeface="Times New Roman" panose="02020603050405020304" pitchFamily="18" charset="0"/>
                <a:ea typeface="Times New Roman" panose="02020603050405020304" pitchFamily="18" charset="0"/>
              </a:rPr>
              <a:t>38(3), </a:t>
            </a:r>
            <a:r>
              <a:rPr lang="en-US" sz="1200" dirty="0">
                <a:effectLst/>
                <a:latin typeface="Times New Roman" panose="02020603050405020304" pitchFamily="18" charset="0"/>
                <a:ea typeface="Times New Roman" panose="02020603050405020304" pitchFamily="18" charset="0"/>
              </a:rPr>
              <a:t>pp. </a:t>
            </a:r>
            <a:r>
              <a:rPr lang="ru-RU" sz="1200" dirty="0">
                <a:effectLst/>
                <a:latin typeface="Times New Roman" panose="02020603050405020304" pitchFamily="18" charset="0"/>
                <a:ea typeface="Times New Roman" panose="02020603050405020304" pitchFamily="18" charset="0"/>
              </a:rPr>
              <a:t>326–349. </a:t>
            </a:r>
            <a:r>
              <a:rPr lang="en-US" sz="1200" dirty="0">
                <a:latin typeface="Times New Roman" panose="02020603050405020304" pitchFamily="18" charset="0"/>
                <a:ea typeface="Times New Roman" panose="02020603050405020304" pitchFamily="18" charset="0"/>
              </a:rPr>
              <a:t>URL: </a:t>
            </a:r>
            <a:r>
              <a:rPr lang="ru-RU" sz="1200" u="sng" dirty="0">
                <a:solidFill>
                  <a:srgbClr val="467886"/>
                </a:solidFill>
                <a:effectLst/>
                <a:latin typeface="Times New Roman" panose="02020603050405020304" pitchFamily="18" charset="0"/>
                <a:ea typeface="Times New Roman" panose="02020603050405020304" pitchFamily="18" charset="0"/>
                <a:hlinkClick r:id="rId9"/>
              </a:rPr>
              <a:t>https://doi.org/10.1177/0093650210386104</a:t>
            </a:r>
            <a:endParaRPr lang="ru-RU" sz="1100" dirty="0">
              <a:effectLst/>
              <a:latin typeface="Times New Roman" panose="02020603050405020304" pitchFamily="18" charset="0"/>
              <a:ea typeface="Times New Roman" panose="02020603050405020304" pitchFamily="18" charset="0"/>
            </a:endParaRPr>
          </a:p>
        </p:txBody>
      </p:sp>
      <p:sp>
        <p:nvSpPr>
          <p:cNvPr id="6" name="Номер слайда 5">
            <a:extLst>
              <a:ext uri="{FF2B5EF4-FFF2-40B4-BE49-F238E27FC236}">
                <a16:creationId xmlns:a16="http://schemas.microsoft.com/office/drawing/2014/main" id="{46BB9D7B-2DF5-BD57-3B8F-F345342AC387}"/>
              </a:ext>
            </a:extLst>
          </p:cNvPr>
          <p:cNvSpPr>
            <a:spLocks noGrp="1"/>
          </p:cNvSpPr>
          <p:nvPr>
            <p:ph type="sldNum" sz="quarter" idx="12"/>
          </p:nvPr>
        </p:nvSpPr>
        <p:spPr>
          <a:xfrm>
            <a:off x="9448800" y="0"/>
            <a:ext cx="2743200" cy="365125"/>
          </a:xfrm>
        </p:spPr>
        <p:txBody>
          <a:bodyPr/>
          <a:lstStyle/>
          <a:p>
            <a:fld id="{AB872730-9A74-4497-B7D6-02B393744B30}" type="slidenum">
              <a:rPr lang="ru-RU" smtClean="0"/>
              <a:t>15</a:t>
            </a:fld>
            <a:r>
              <a:rPr lang="ru-RU" dirty="0"/>
              <a:t>  / 15</a:t>
            </a:r>
          </a:p>
        </p:txBody>
      </p:sp>
    </p:spTree>
    <p:extLst>
      <p:ext uri="{BB962C8B-B14F-4D97-AF65-F5344CB8AC3E}">
        <p14:creationId xmlns:p14="http://schemas.microsoft.com/office/powerpoint/2010/main" val="1892637448"/>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10184</TotalTime>
  <Words>2202</Words>
  <Application>Microsoft Office PowerPoint</Application>
  <PresentationFormat>Широкоэкранный</PresentationFormat>
  <Paragraphs>186</Paragraphs>
  <Slides>15</Slides>
  <Notes>15</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15</vt:i4>
      </vt:variant>
    </vt:vector>
  </HeadingPairs>
  <TitlesOfParts>
    <vt:vector size="21" baseType="lpstr">
      <vt:lpstr>Aptos</vt:lpstr>
      <vt:lpstr>Aptos Display</vt:lpstr>
      <vt:lpstr>Arial</vt:lpstr>
      <vt:lpstr>Segoe UI Semibold</vt:lpstr>
      <vt:lpstr>Times New Roman</vt:lpstr>
      <vt:lpstr>Тема Office</vt:lpstr>
      <vt:lpstr>Development of a Web Service for Creating and Managing an Interactive Digital Portfolio and Resume</vt:lpstr>
      <vt:lpstr>The Modern Challenge of Professional  Self-Presentation</vt:lpstr>
      <vt:lpstr>The Gap in Current Solutions</vt:lpstr>
      <vt:lpstr>Comparison of Existing Solutions</vt:lpstr>
      <vt:lpstr>An All-in-One Interactive Portfolio</vt:lpstr>
      <vt:lpstr>Limitations</vt:lpstr>
      <vt:lpstr>Research Questions</vt:lpstr>
      <vt:lpstr>Research Questions</vt:lpstr>
      <vt:lpstr>RQ1: Visualization &amp; Perception</vt:lpstr>
      <vt:lpstr>RQ2: Dual-Audience Design</vt:lpstr>
      <vt:lpstr>RQ3: System Architecture</vt:lpstr>
      <vt:lpstr>RQ4: Predictive Analytics</vt:lpstr>
      <vt:lpstr>Methods</vt:lpstr>
      <vt:lpstr>Anticipated 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Мельник Екатерина Алексеевна</dc:creator>
  <cp:lastModifiedBy>Мельник Екатерина Алексеевна</cp:lastModifiedBy>
  <cp:revision>217</cp:revision>
  <dcterms:created xsi:type="dcterms:W3CDTF">2025-12-02T06:40:28Z</dcterms:created>
  <dcterms:modified xsi:type="dcterms:W3CDTF">2026-03-22T08:00:18Z</dcterms:modified>
</cp:coreProperties>
</file>